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594" r:id="rId3"/>
    <p:sldId id="592" r:id="rId4"/>
    <p:sldId id="614" r:id="rId5"/>
    <p:sldId id="256" r:id="rId6"/>
    <p:sldId id="257" r:id="rId7"/>
    <p:sldId id="258" r:id="rId8"/>
    <p:sldId id="259" r:id="rId9"/>
    <p:sldId id="624" r:id="rId10"/>
    <p:sldId id="260" r:id="rId11"/>
    <p:sldId id="625" r:id="rId12"/>
    <p:sldId id="626" r:id="rId13"/>
    <p:sldId id="627" r:id="rId14"/>
    <p:sldId id="261" r:id="rId15"/>
    <p:sldId id="615" r:id="rId16"/>
    <p:sldId id="262" r:id="rId17"/>
    <p:sldId id="616" r:id="rId18"/>
    <p:sldId id="617" r:id="rId19"/>
    <p:sldId id="618" r:id="rId20"/>
    <p:sldId id="264" r:id="rId21"/>
    <p:sldId id="619" r:id="rId22"/>
    <p:sldId id="265" r:id="rId23"/>
    <p:sldId id="629" r:id="rId24"/>
    <p:sldId id="266" r:id="rId25"/>
    <p:sldId id="620" r:id="rId26"/>
    <p:sldId id="267" r:id="rId27"/>
    <p:sldId id="630" r:id="rId28"/>
    <p:sldId id="268" r:id="rId29"/>
    <p:sldId id="621" r:id="rId30"/>
    <p:sldId id="269" r:id="rId31"/>
    <p:sldId id="631" r:id="rId32"/>
    <p:sldId id="622" r:id="rId33"/>
    <p:sldId id="270" r:id="rId34"/>
    <p:sldId id="623" r:id="rId35"/>
    <p:sldId id="628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612" r:id="rId48"/>
    <p:sldId id="613" r:id="rId49"/>
    <p:sldId id="611" r:id="rId50"/>
    <p:sldId id="589" r:id="rId5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98CD"/>
    <a:srgbClr val="852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E2C6A-ADA8-44B7-AE66-79D6D42D3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940D9B-28CD-40C4-85EC-DF4CE264E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C35656-1EF7-4D23-BEAB-113D7CE3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B2C30-6649-4BFF-A2B2-C033408E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428E9-CB7D-4905-BC94-002B9DFE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15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54292-E87D-4777-962F-1ED9A710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BC80DD-893A-4D06-9BAB-3299E013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A8130F-48AA-4AE0-A037-8F94A15A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D9D1BC-FC4C-4659-BC34-F3618ADB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D6179C-8919-434C-AF3A-34A93AE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A50D6A55-FAB5-4D54-B2DC-62935FE9EA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402388"/>
            <a:ext cx="12200467" cy="463550"/>
            <a:chOff x="0" y="0"/>
            <a:chExt cx="9151698" cy="464252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FFECD505-E7B1-438F-8D72-1734EF98F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165622D8-D8B0-4A10-8B47-63579EA21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s-ES"/>
            </a:p>
          </p:txBody>
        </p:sp>
      </p:grpSp>
      <p:pic>
        <p:nvPicPr>
          <p:cNvPr id="10" name="Picture 3">
            <a:extLst>
              <a:ext uri="{FF2B5EF4-FFF2-40B4-BE49-F238E27FC236}">
                <a16:creationId xmlns:a16="http://schemas.microsoft.com/office/drawing/2014/main" id="{BA4167F4-161C-4731-A67A-BB24408BB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402388"/>
            <a:ext cx="223096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231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91058-5FCF-4747-B4CF-F4C75F04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09DC7B-D105-4CEA-8656-5910123EC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425E6-1ECF-4199-8EC8-B123F489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61DEE9-964A-4FC9-B56B-B3A3EDC2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892421-34F1-42F8-8CE9-CC157D54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520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59040-1BE4-4898-8CE6-EE337AA0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71D965-4302-4629-95C9-D495E4501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9B8087-542C-4CD7-BD1B-360B38F88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3D3C9-C777-47B6-8533-AFE431B3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BD9320-7B8B-4C6D-9AB9-788D06F4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1DD953-A0F3-4617-8001-D9143713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229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89750-E925-4904-976F-6DA2701A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6C0955-B3C2-4D3B-A026-2D7B9167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5A3587-07E8-4815-8039-720F77E40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32758D-13D9-4053-83CD-948E1E262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66153-B6D8-42A5-97A7-A6F207ECE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AE9715-6C35-4B0F-98FE-E8A4247C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4E48EB-4F62-42D6-873B-CED8BF13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FAE50A-632B-4613-A447-FE6C8628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287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4D990-7261-4E57-8E9C-CFC028E6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3F7C9D-3E4D-4359-A41A-2AB5388D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4376EF-4330-4310-9E50-AD8A35F5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B91E5D-3810-423C-AEC7-4295F215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  <p:grpSp>
        <p:nvGrpSpPr>
          <p:cNvPr id="6" name="Group 1">
            <a:extLst>
              <a:ext uri="{FF2B5EF4-FFF2-40B4-BE49-F238E27FC236}">
                <a16:creationId xmlns:a16="http://schemas.microsoft.com/office/drawing/2014/main" id="{A3522F91-2C4A-4E39-A605-95EC5C3C107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402388"/>
            <a:ext cx="12200467" cy="463550"/>
            <a:chOff x="0" y="0"/>
            <a:chExt cx="9151698" cy="464252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09300195-D7FA-4616-B1DD-AEA03C792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8" name="Line 3">
              <a:extLst>
                <a:ext uri="{FF2B5EF4-FFF2-40B4-BE49-F238E27FC236}">
                  <a16:creationId xmlns:a16="http://schemas.microsoft.com/office/drawing/2014/main" id="{E64D2E7A-9CB3-49B1-BC9A-F05F34387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s-ES"/>
            </a:p>
          </p:txBody>
        </p:sp>
      </p:grpSp>
      <p:pic>
        <p:nvPicPr>
          <p:cNvPr id="9" name="Picture 3">
            <a:extLst>
              <a:ext uri="{FF2B5EF4-FFF2-40B4-BE49-F238E27FC236}">
                <a16:creationId xmlns:a16="http://schemas.microsoft.com/office/drawing/2014/main" id="{459FB6C2-6858-4030-922C-82B5B8FAFE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402388"/>
            <a:ext cx="223096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34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7172DF-7D3F-4705-860A-BD8682F2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9FBAD9-78BF-41D9-AB08-F245470C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B8336E-1236-4DE2-A21D-F1620CDA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5F38305D-E292-4D9A-920D-5017CD0F815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402388"/>
            <a:ext cx="12200467" cy="463550"/>
            <a:chOff x="0" y="0"/>
            <a:chExt cx="9151698" cy="464252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DC4A88F4-12D1-4F3C-B310-2D4600882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8C75440C-E24E-4805-8662-649382407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s-ES"/>
            </a:p>
          </p:txBody>
        </p:sp>
      </p:grpSp>
      <p:pic>
        <p:nvPicPr>
          <p:cNvPr id="8" name="Picture 3">
            <a:extLst>
              <a:ext uri="{FF2B5EF4-FFF2-40B4-BE49-F238E27FC236}">
                <a16:creationId xmlns:a16="http://schemas.microsoft.com/office/drawing/2014/main" id="{61EF587B-3F99-461B-A355-C8B2A6315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402388"/>
            <a:ext cx="223096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52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B06C1-EC70-4228-8899-155CAB4C2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AE16A4-3D09-47B0-A38F-D779F1DE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D1EFD1-2090-49EB-AA20-6A5A216EF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51CC4C-483E-4CC6-881A-5744EE75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360972-ED50-47E6-B104-5658B1A2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67B731-51E4-42FC-857F-C566370F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620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CBB66-49E6-475D-8DCB-9DB50DAE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EFC58A-73C8-4844-9C17-F91480656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01AE97-69AB-4EAF-B1FD-68A5B34C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192528-DD9E-45AF-85A6-ACB4E8FA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D449F3-073D-45C9-BBF6-FFC101C5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E66C4D-C811-472C-AD67-497832BD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721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8FD12-8C6B-4B5B-AB7F-CFCD80BA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9FAE37-87EC-4556-9F00-48259FE0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A0DB3-73A4-4D91-BA8F-D69E1236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128A82-2BED-4993-B799-368CA515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870621-5F16-44BF-A7EB-C30C982A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248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59ED16-771B-4488-9DCB-BCEDAF786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CB6776-A6F3-4CB5-A5AA-E373CDD5B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C5187-828F-4CB2-82CF-E0541AA7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8B5D4-1F9E-40F7-8A57-7C3126E8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986FC6-99B5-47C4-8ED6-B4DADAC9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080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">
            <a:extLst>
              <a:ext uri="{FF2B5EF4-FFF2-40B4-BE49-F238E27FC236}">
                <a16:creationId xmlns:a16="http://schemas.microsoft.com/office/drawing/2014/main" id="{2204107C-48E6-4053-847F-3FBB65701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 t="2" r="2078" b="18163"/>
          <a:stretch>
            <a:fillRect/>
          </a:stretch>
        </p:blipFill>
        <p:spPr bwMode="auto">
          <a:xfrm>
            <a:off x="0" y="1"/>
            <a:ext cx="12192000" cy="561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4B6A1E-5454-4371-ADE4-B1DC5991F385}"/>
              </a:ext>
            </a:extLst>
          </p:cNvPr>
          <p:cNvSpPr/>
          <p:nvPr userDrawn="1"/>
        </p:nvSpPr>
        <p:spPr>
          <a:xfrm>
            <a:off x="0" y="5611814"/>
            <a:ext cx="12192000" cy="134937"/>
          </a:xfrm>
          <a:prstGeom prst="rect">
            <a:avLst/>
          </a:prstGeom>
          <a:solidFill>
            <a:srgbClr val="009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_tradnl" dirty="0">
              <a:solidFill>
                <a:srgbClr val="0098CD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5E34D6-64CD-4DFD-A85C-441E85DBC4E4}"/>
              </a:ext>
            </a:extLst>
          </p:cNvPr>
          <p:cNvSpPr/>
          <p:nvPr userDrawn="1"/>
        </p:nvSpPr>
        <p:spPr>
          <a:xfrm>
            <a:off x="0" y="4244975"/>
            <a:ext cx="12192000" cy="1366838"/>
          </a:xfrm>
          <a:prstGeom prst="rect">
            <a:avLst/>
          </a:prstGeom>
          <a:gradFill>
            <a:gsLst>
              <a:gs pos="0">
                <a:srgbClr val="272727"/>
              </a:gs>
              <a:gs pos="100000">
                <a:schemeClr val="tx2">
                  <a:alpha val="0"/>
                </a:schemeClr>
              </a:gs>
            </a:gsLst>
            <a:lin ang="1206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7E7C69EB-1A65-400F-BD04-BA7D057D80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652" y="6134100"/>
            <a:ext cx="3117849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5">
            <a:extLst>
              <a:ext uri="{FF2B5EF4-FFF2-40B4-BE49-F238E27FC236}">
                <a16:creationId xmlns:a16="http://schemas.microsoft.com/office/drawing/2014/main" id="{48AE064B-A7E3-494E-9D32-ACACBA1A52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18" y="5959476"/>
            <a:ext cx="1576916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>
          <a:xfrm>
            <a:off x="3623734" y="4991100"/>
            <a:ext cx="7990417" cy="495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s-ES" noProof="0"/>
              <a:t>Editar el estilo de texto del patrón</a:t>
            </a:r>
          </a:p>
        </p:txBody>
      </p:sp>
      <p:sp>
        <p:nvSpPr>
          <p:cNvPr id="24" name="Marcador de texto 23"/>
          <p:cNvSpPr>
            <a:spLocks noGrp="1"/>
          </p:cNvSpPr>
          <p:nvPr>
            <p:ph type="body" sz="quarter" idx="12"/>
          </p:nvPr>
        </p:nvSpPr>
        <p:spPr>
          <a:xfrm>
            <a:off x="965201" y="4248150"/>
            <a:ext cx="10648951" cy="1016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500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8730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33164F-2B36-4A52-9B61-88251767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94853A-7EAA-4E63-933D-EFD0B258B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BA9D0-C409-4B83-98D0-37012FB9E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CC96C-C92F-4042-9B73-8B553743D4B2}" type="datetimeFigureOut">
              <a:rPr lang="es-MX" smtClean="0"/>
              <a:t>16/01/2026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47E0D5-9BF5-4F85-8C97-24C4AFEEB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0CE006-11A1-4649-BB68-E735BDE80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943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H33tA2-j0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32B3E3-0713-4466-9522-0107AF50E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 dirty="0"/>
              <a:t>Dr. Efrén Juárez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16339A6-E197-484B-BC14-E6102B247A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s-MX" sz="3600" dirty="0">
                <a:solidFill>
                  <a:schemeClr val="bg1"/>
                </a:solidFill>
              </a:rPr>
              <a:t>Seminario de Innovación en Inteligencia Artificial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2C51B8-CBE4-4332-A32B-A2FB0780B2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28463" y="6559550"/>
            <a:ext cx="363537" cy="173038"/>
          </a:xfrm>
          <a:prstGeom prst="rect">
            <a:avLst/>
          </a:prstGeom>
        </p:spPr>
        <p:txBody>
          <a:bodyPr/>
          <a:lstStyle/>
          <a:p>
            <a:fld id="{F0460C81-2402-4F54-8DE3-2D47E350C8B9}" type="slidenum">
              <a:rPr lang="es-ES_tradnl" altLang="es-ES" smtClean="0"/>
              <a:pPr/>
              <a:t>1</a:t>
            </a:fld>
            <a:endParaRPr lang="es-ES_tradnl" alt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133541-3FC9-4725-8DFE-D232DA7D2CCA}"/>
              </a:ext>
            </a:extLst>
          </p:cNvPr>
          <p:cNvSpPr txBox="1"/>
          <p:nvPr/>
        </p:nvSpPr>
        <p:spPr>
          <a:xfrm>
            <a:off x="0" y="332548"/>
            <a:ext cx="6389511" cy="523220"/>
          </a:xfrm>
          <a:prstGeom prst="rect">
            <a:avLst/>
          </a:prstGeom>
          <a:solidFill>
            <a:srgbClr val="0066FF">
              <a:alpha val="45882"/>
            </a:srgbClr>
          </a:solidFill>
          <a:ln>
            <a:solidFill>
              <a:srgbClr val="0098C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Maestría en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75012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161C6-80DB-4F69-99FA-6D78E957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Seminario de Innovación en Inteligencia Artificial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3EDC44-9CB5-4333-A07D-CE3482001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964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044205E4-CF23-432E-AAA3-CC775D3B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Sesiones en directo</a:t>
            </a:r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7E65B779-9ED6-482F-B606-73A0E6592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06" y="2570963"/>
            <a:ext cx="5725877" cy="2510879"/>
          </a:xfrm>
        </p:spPr>
        <p:txBody>
          <a:bodyPr>
            <a:normAutofit/>
          </a:bodyPr>
          <a:lstStyle/>
          <a:p>
            <a:r>
              <a:rPr lang="es-MX" sz="2000" dirty="0"/>
              <a:t>Semana 01: sesión 1, presentación.</a:t>
            </a:r>
          </a:p>
          <a:p>
            <a:r>
              <a:rPr lang="es-MX" sz="2000" dirty="0">
                <a:highlight>
                  <a:srgbClr val="FFFF00"/>
                </a:highlight>
              </a:rPr>
              <a:t>Semana 05: sesión 2, corrección de la propuesta</a:t>
            </a:r>
            <a:r>
              <a:rPr lang="es-MX" sz="2000" dirty="0"/>
              <a:t>.</a:t>
            </a:r>
          </a:p>
          <a:p>
            <a:r>
              <a:rPr lang="es-MX" sz="2000" dirty="0"/>
              <a:t>Semana 09: sesión 3, corrección de la actividad 2.</a:t>
            </a:r>
          </a:p>
          <a:p>
            <a:r>
              <a:rPr lang="es-MX" sz="2000" dirty="0"/>
              <a:t>Semana 14: sesión 4, corrección de la actividad 3.</a:t>
            </a:r>
          </a:p>
          <a:p>
            <a:r>
              <a:rPr lang="es-MX" sz="2000" dirty="0"/>
              <a:t>Semana 16: sesión 5, preparación del documento final.</a:t>
            </a:r>
          </a:p>
          <a:p>
            <a:endParaRPr lang="es-MX" sz="2000" dirty="0"/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C78A93-C4AD-4049-8ECB-E84B44EA8304}"/>
              </a:ext>
            </a:extLst>
          </p:cNvPr>
          <p:cNvSpPr/>
          <p:nvPr/>
        </p:nvSpPr>
        <p:spPr>
          <a:xfrm>
            <a:off x="6253330" y="2878669"/>
            <a:ext cx="406400" cy="1595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C00433-C897-400E-A6C8-90406CA72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3" y="1236345"/>
            <a:ext cx="5205874" cy="489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0A401-BF91-4D16-B8F7-9DA32728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Evaluación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4EC6AA-A2DA-4BD1-B817-F0095ACD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54" y="2403033"/>
            <a:ext cx="10043492" cy="259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3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966D2-E1BB-43E2-BF10-E72086F4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Incidencias con mayor impacto en el desarrollo de sus propuestas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B36A09-4917-4F40-81D5-3D04ECB00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545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A5D21-20E4-41A8-8B5D-A6D03DD8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Fundamentación y Referentes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3C9D0-EE39-4EC5-A9AC-7DB69A3B0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Ausencia de un </a:t>
            </a:r>
            <a:r>
              <a:rPr lang="es-MX" b="1" dirty="0" err="1"/>
              <a:t>Baseline</a:t>
            </a:r>
            <a:r>
              <a:rPr lang="es-MX" b="1" dirty="0"/>
              <a:t> Explícito</a:t>
            </a:r>
            <a:r>
              <a:rPr lang="es-MX" dirty="0"/>
              <a:t>: Sin un referente de comparación (proceso manual actual o modelos base), es imposible cuantificar la mejora real de la solución propuesta.</a:t>
            </a:r>
          </a:p>
          <a:p>
            <a:r>
              <a:rPr lang="es-MX" b="1" dirty="0"/>
              <a:t>Falta de Referencias en el Estado del Arte</a:t>
            </a:r>
            <a:r>
              <a:rPr lang="es-MX" dirty="0"/>
              <a:t>: Se describen tecnologías de forma general sin citar fuentes académicas o técnicas que validen la novedad frente a lo que ya existe en el mercado o la ciencia.</a:t>
            </a:r>
          </a:p>
          <a:p>
            <a:r>
              <a:rPr lang="es-MX" b="1" dirty="0"/>
              <a:t>Alcance del MVP mal Delimitado</a:t>
            </a:r>
            <a:r>
              <a:rPr lang="es-MX" dirty="0"/>
              <a:t>: La planeación suele ser demasiado ambiciosa para 16 semanas. Se debe priorizar el núcleo funcional que resuelva el problema principal antes de añadir funciones secundarias.</a:t>
            </a:r>
          </a:p>
        </p:txBody>
      </p:sp>
    </p:spTree>
    <p:extLst>
      <p:ext uri="{BB962C8B-B14F-4D97-AF65-F5344CB8AC3E}">
        <p14:creationId xmlns:p14="http://schemas.microsoft.com/office/powerpoint/2010/main" val="2898231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A387D-4AAF-4C0C-99B1-9D9B270C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 de Datos y Ética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E76C21-845E-44A3-BDCE-5DA870F35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Plan de Datos Insuficiente</a:t>
            </a:r>
            <a:r>
              <a:rPr lang="es-MX" dirty="0"/>
              <a:t>: Falta de claridad en el origen del </a:t>
            </a:r>
            <a:r>
              <a:rPr lang="es-MX" dirty="0" err="1"/>
              <a:t>dataset</a:t>
            </a:r>
            <a:r>
              <a:rPr lang="es-MX" dirty="0"/>
              <a:t>, volumen de muestras, procesos de limpieza y criterios de ingeniería de características (</a:t>
            </a:r>
            <a:r>
              <a:rPr lang="es-MX" dirty="0" err="1"/>
              <a:t>feature</a:t>
            </a:r>
            <a:r>
              <a:rPr lang="es-MX" dirty="0"/>
              <a:t> </a:t>
            </a:r>
            <a:r>
              <a:rPr lang="es-MX" dirty="0" err="1"/>
              <a:t>engineering</a:t>
            </a:r>
            <a:r>
              <a:rPr lang="es-MX" dirty="0"/>
              <a:t>).</a:t>
            </a:r>
          </a:p>
          <a:p>
            <a:r>
              <a:rPr lang="es-MX" b="1" dirty="0"/>
              <a:t>Debilidad en Protocolos de Privacidad y Ética</a:t>
            </a:r>
            <a:r>
              <a:rPr lang="es-MX" dirty="0"/>
              <a:t>: Omisión de detalles sobre </a:t>
            </a:r>
            <a:r>
              <a:rPr lang="es-MX" dirty="0" err="1"/>
              <a:t>anonimización</a:t>
            </a:r>
            <a:r>
              <a:rPr lang="es-MX" dirty="0"/>
              <a:t>, cifrado de datos sensibles y cumplimiento de normativas (GDPR/LFPDPPP), especialmente en datos biométricos o de salud.</a:t>
            </a:r>
          </a:p>
          <a:p>
            <a:r>
              <a:rPr lang="es-MX" b="1" dirty="0"/>
              <a:t>Inconsistencia en la Arquitectura Técnica</a:t>
            </a:r>
            <a:r>
              <a:rPr lang="es-MX" dirty="0"/>
              <a:t>: Desconexión entre los objetivos y la tecnología (ej. proponer modelos dependientes de la nube para entornos que requieren operación local o offline).</a:t>
            </a:r>
          </a:p>
        </p:txBody>
      </p:sp>
    </p:spTree>
    <p:extLst>
      <p:ext uri="{BB962C8B-B14F-4D97-AF65-F5344CB8AC3E}">
        <p14:creationId xmlns:p14="http://schemas.microsoft.com/office/powerpoint/2010/main" val="305118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45C4B-C7F5-42A0-9E58-8B8A1D24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Evaluación y Rigor Científico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3B1EB4-03E4-41D1-B044-C0CA52E3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Métricas de Evaluación Limitadas</a:t>
            </a:r>
            <a:r>
              <a:rPr lang="es-MX" dirty="0"/>
              <a:t>: El enfoque se queda en el algoritmo (Exactitud, MSE) y olvida las métricas de impacto de negocio o de usuario final que justifican la inversión del proyecto.</a:t>
            </a:r>
          </a:p>
          <a:p>
            <a:r>
              <a:rPr lang="es-MX" b="1" dirty="0"/>
              <a:t>Falta de Criterios de Éxito Cuantitativos</a:t>
            </a:r>
            <a:r>
              <a:rPr lang="es-MX" dirty="0"/>
              <a:t>: Las metas suelen ser subjetivas. Se requiere definir umbrales numéricos específicos (ej. "</a:t>
            </a:r>
            <a:r>
              <a:rPr lang="es-MX" dirty="0" err="1"/>
              <a:t>Recall</a:t>
            </a:r>
            <a:r>
              <a:rPr lang="es-MX" dirty="0"/>
              <a:t> &gt; 85%") para determinar si el proyecto tuvo éxito.</a:t>
            </a:r>
          </a:p>
          <a:p>
            <a:r>
              <a:rPr lang="es-MX" b="1" dirty="0"/>
              <a:t>Protocolo de Validación No Reproducible</a:t>
            </a:r>
            <a:r>
              <a:rPr lang="es-MX" dirty="0"/>
              <a:t>: Falta de rigor en el diseño experimental (partición de datos, validación cruzada o escenarios de prueba), lo que impide que los resultados sean verificables por terceros.</a:t>
            </a:r>
          </a:p>
        </p:txBody>
      </p:sp>
    </p:spTree>
    <p:extLst>
      <p:ext uri="{BB962C8B-B14F-4D97-AF65-F5344CB8AC3E}">
        <p14:creationId xmlns:p14="http://schemas.microsoft.com/office/powerpoint/2010/main" val="318515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32105CE-F71D-45E3-AB57-6C56E263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Entrega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C71829-18E5-4CBB-9C59-95046CFE9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  - 19 enero</a:t>
            </a:r>
          </a:p>
        </p:txBody>
      </p:sp>
    </p:spTree>
    <p:extLst>
      <p:ext uri="{BB962C8B-B14F-4D97-AF65-F5344CB8AC3E}">
        <p14:creationId xmlns:p14="http://schemas.microsoft.com/office/powerpoint/2010/main" val="1240606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48FE9-9654-4680-872E-8DC2AA0A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Índice propuesto del documento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91BDB5-2625-477A-8D2F-0A4E96918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27583"/>
            <a:ext cx="6766339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Introducción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(motivación, contexto, problema, alcance, estructura)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Objetivos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(general orientado a impacto + específicos medibles)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Desarrollo conceptual (</a:t>
            </a:r>
            <a:r>
              <a:rPr kumimoji="0" lang="es-MX" altLang="es-MX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Design</a:t>
            </a: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0" lang="es-MX" altLang="es-MX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Thinking</a:t>
            </a: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3.1 Empatizar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3.2 Definir (HMW + criterios de éxito)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3.3 Investigación de antecedentes (estado del arte, tabla comparativa)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3.4 Idear (alternativas y selección)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3.5 Prototipar (tipo y justificación)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3.6 Selección de prototipo (matriz y criterios)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Metodología: Scrum y Lean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4.1 Roles, artefactos y eventos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4.2 Backlog inicial, estimación y cadencia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4.3 Definiciones de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/Done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4.4 Principios Lean y métricas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Implementación de la propuesta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5.1 Planificación y estimación (tiempo/costo)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5.2 Implementación (arquitectura, datos, componentes, repo)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5.3 Despliegue (entorno, seguridad, contingencia)</a:t>
            </a:r>
            <a:b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5.4 Mantenimiento (cambios, versiones)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Validación y diseño experimental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(hipótesis, métricas, resultados, discusión)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Conclusiones y trabajo futuro</a:t>
            </a: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Referencias (APA</a:t>
            </a: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Anexos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(instrumentos, capturas, backlog/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etc.)</a:t>
            </a:r>
          </a:p>
        </p:txBody>
      </p:sp>
    </p:spTree>
    <p:extLst>
      <p:ext uri="{BB962C8B-B14F-4D97-AF65-F5344CB8AC3E}">
        <p14:creationId xmlns:p14="http://schemas.microsoft.com/office/powerpoint/2010/main" val="303776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9F69D-F63F-44CD-B276-D2E5A72F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 Cómo escribir la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396BA-CA3D-4790-95DB-6335E696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b="1" dirty="0"/>
              <a:t>1. Contexto y motivación: </a:t>
            </a:r>
            <a:r>
              <a:rPr lang="es-MX" dirty="0"/>
              <a:t>Explica brevemente la situación actual y por qué el tema es importante. Ejemplo: ¿qué problema existe hoy?, ¿qué impacto tiene?, ¿por qué vale la pena resolverlo?</a:t>
            </a:r>
          </a:p>
          <a:p>
            <a:r>
              <a:rPr lang="es-MX" b="1" dirty="0"/>
              <a:t>2. Planteamiento del problema: </a:t>
            </a:r>
            <a:r>
              <a:rPr lang="es-MX" dirty="0"/>
              <a:t>Delimita el problema específico que abordará tu proyecto. Sé concreto y evita generalidades.</a:t>
            </a:r>
          </a:p>
          <a:p>
            <a:r>
              <a:rPr lang="es-MX" b="1" dirty="0"/>
              <a:t>3. Justificación: </a:t>
            </a:r>
            <a:r>
              <a:rPr lang="es-MX" dirty="0"/>
              <a:t>Responde: ¿por qué este proyecto es relevante?, ¿qué valor aporta?, ¿a quién beneficia?</a:t>
            </a:r>
          </a:p>
          <a:p>
            <a:r>
              <a:rPr lang="es-MX" b="1" dirty="0"/>
              <a:t>4. Objetivos (resumen): </a:t>
            </a:r>
            <a:r>
              <a:rPr lang="es-MX" dirty="0"/>
              <a:t>Menciona de forma muy breve el </a:t>
            </a:r>
            <a:r>
              <a:rPr lang="es-MX" b="1" dirty="0"/>
              <a:t>objetivo general</a:t>
            </a:r>
            <a:r>
              <a:rPr lang="es-MX" dirty="0"/>
              <a:t> y adelanta los </a:t>
            </a:r>
            <a:r>
              <a:rPr lang="es-MX" b="1" dirty="0"/>
              <a:t>objetivos específicos</a:t>
            </a:r>
            <a:r>
              <a:rPr lang="es-MX" dirty="0"/>
              <a:t>. </a:t>
            </a:r>
            <a:r>
              <a:rPr lang="es-MX" i="1" dirty="0"/>
              <a:t>Nota:</a:t>
            </a:r>
            <a:r>
              <a:rPr lang="es-MX" dirty="0"/>
              <a:t> Los detallarás en la sección de “Objetivos”.</a:t>
            </a:r>
          </a:p>
          <a:p>
            <a:r>
              <a:rPr lang="es-MX" b="1" dirty="0"/>
              <a:t>5. Estructura del documento: </a:t>
            </a:r>
            <a:r>
              <a:rPr lang="es-MX" dirty="0"/>
              <a:t>Cierra la introducción explicando cómo está organizado el trabajo (qué se encuentra en cada capítulo).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072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1D8BE-64A0-415C-826B-E4179419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2 Cómo redactar los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CEF987-2C79-4BA3-8934-86CEFA208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b="1" dirty="0"/>
              <a:t>1. Objetivo General</a:t>
            </a:r>
            <a:endParaRPr lang="es-MX" dirty="0"/>
          </a:p>
          <a:p>
            <a:pPr lvl="1"/>
            <a:r>
              <a:rPr lang="es-MX" dirty="0"/>
              <a:t>Define </a:t>
            </a:r>
            <a:r>
              <a:rPr lang="es-MX" b="1" dirty="0"/>
              <a:t>qué se quiere lograr en todo el proyecto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Debe responder a: </a:t>
            </a:r>
            <a:r>
              <a:rPr lang="es-MX" i="1" dirty="0"/>
              <a:t>¿qué?</a:t>
            </a:r>
            <a:r>
              <a:rPr lang="es-MX" dirty="0"/>
              <a:t>, </a:t>
            </a:r>
            <a:r>
              <a:rPr lang="es-MX" i="1" dirty="0"/>
              <a:t>¿para qué?</a:t>
            </a:r>
            <a:r>
              <a:rPr lang="es-MX" dirty="0"/>
              <a:t> y </a:t>
            </a:r>
            <a:r>
              <a:rPr lang="es-MX" i="1" dirty="0"/>
              <a:t>¿cómo en términos generales?</a:t>
            </a:r>
            <a:endParaRPr lang="es-MX" dirty="0"/>
          </a:p>
          <a:p>
            <a:pPr lvl="1"/>
            <a:r>
              <a:rPr lang="es-MX" dirty="0"/>
              <a:t>Se redacta en un solo párrafo, en </a:t>
            </a:r>
            <a:r>
              <a:rPr lang="es-MX" b="1" dirty="0"/>
              <a:t>infinitivo</a:t>
            </a:r>
            <a:r>
              <a:rPr lang="es-MX" dirty="0"/>
              <a:t> (ej. </a:t>
            </a:r>
            <a:r>
              <a:rPr lang="es-MX" i="1" dirty="0"/>
              <a:t>Diseñar</a:t>
            </a:r>
            <a:r>
              <a:rPr lang="es-MX" dirty="0"/>
              <a:t>, </a:t>
            </a:r>
            <a:r>
              <a:rPr lang="es-MX" i="1" dirty="0"/>
              <a:t>Implementar</a:t>
            </a:r>
            <a:r>
              <a:rPr lang="es-MX" dirty="0"/>
              <a:t>, </a:t>
            </a:r>
            <a:r>
              <a:rPr lang="es-MX" i="1" dirty="0"/>
              <a:t>Desarrollar</a:t>
            </a:r>
            <a:r>
              <a:rPr lang="es-MX" dirty="0"/>
              <a:t>).</a:t>
            </a:r>
          </a:p>
          <a:p>
            <a:pPr marL="0" indent="0">
              <a:buNone/>
            </a:pPr>
            <a:r>
              <a:rPr lang="es-MX" b="1" dirty="0"/>
              <a:t>2. Objetivos Específicos</a:t>
            </a:r>
            <a:endParaRPr lang="es-MX" dirty="0"/>
          </a:p>
          <a:p>
            <a:pPr lvl="1"/>
            <a:r>
              <a:rPr lang="es-MX" dirty="0"/>
              <a:t>Derivan del objetivo general y lo </a:t>
            </a:r>
            <a:r>
              <a:rPr lang="es-MX" b="1" dirty="0"/>
              <a:t>descomponen en pasos alcanzables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Deben ser claros, medibles y alcanzables.</a:t>
            </a:r>
          </a:p>
          <a:p>
            <a:pPr lvl="1"/>
            <a:r>
              <a:rPr lang="es-MX" dirty="0"/>
              <a:t>Se redactan también en infinitivo y en lista (ej. </a:t>
            </a:r>
            <a:r>
              <a:rPr lang="es-MX" i="1" dirty="0"/>
              <a:t>Analizar…</a:t>
            </a:r>
            <a:r>
              <a:rPr lang="es-MX" dirty="0"/>
              <a:t>, </a:t>
            </a:r>
            <a:r>
              <a:rPr lang="es-MX" i="1" dirty="0"/>
              <a:t>Probar…</a:t>
            </a:r>
            <a:r>
              <a:rPr lang="es-MX" dirty="0"/>
              <a:t>, </a:t>
            </a:r>
            <a:r>
              <a:rPr lang="es-MX" i="1" dirty="0"/>
              <a:t>Validar…</a:t>
            </a:r>
            <a:r>
              <a:rPr lang="es-MX" dirty="0"/>
              <a:t>).</a:t>
            </a:r>
          </a:p>
          <a:p>
            <a:pPr marL="0" indent="0">
              <a:buNone/>
            </a:pPr>
            <a:r>
              <a:rPr lang="es-MX" b="1" dirty="0"/>
              <a:t>3. Recomendaciones</a:t>
            </a:r>
            <a:endParaRPr lang="es-MX" dirty="0"/>
          </a:p>
          <a:p>
            <a:pPr lvl="1"/>
            <a:r>
              <a:rPr lang="es-MX" dirty="0"/>
              <a:t>Usar verbos de acción concretos (no: </a:t>
            </a:r>
            <a:r>
              <a:rPr lang="es-MX" i="1" dirty="0"/>
              <a:t>conocer</a:t>
            </a:r>
            <a:r>
              <a:rPr lang="es-MX" dirty="0"/>
              <a:t>, </a:t>
            </a:r>
            <a:r>
              <a:rPr lang="es-MX" i="1" dirty="0"/>
              <a:t>entender</a:t>
            </a:r>
            <a:r>
              <a:rPr lang="es-MX" dirty="0"/>
              <a:t>; sí: </a:t>
            </a:r>
            <a:r>
              <a:rPr lang="es-MX" i="1" dirty="0"/>
              <a:t>analizar</a:t>
            </a:r>
            <a:r>
              <a:rPr lang="es-MX" dirty="0"/>
              <a:t>, </a:t>
            </a:r>
            <a:r>
              <a:rPr lang="es-MX" i="1" dirty="0"/>
              <a:t>evaluar</a:t>
            </a:r>
            <a:r>
              <a:rPr lang="es-MX" dirty="0"/>
              <a:t>, </a:t>
            </a:r>
            <a:r>
              <a:rPr lang="es-MX" i="1" dirty="0"/>
              <a:t>implementar</a:t>
            </a:r>
            <a:r>
              <a:rPr lang="es-MX" dirty="0"/>
              <a:t>).</a:t>
            </a:r>
          </a:p>
          <a:p>
            <a:pPr lvl="1"/>
            <a:r>
              <a:rPr lang="es-MX" dirty="0"/>
              <a:t>No confundir objetivos con actividades.</a:t>
            </a:r>
          </a:p>
          <a:p>
            <a:pPr lvl="1"/>
            <a:r>
              <a:rPr lang="es-MX" dirty="0"/>
              <a:t>Deben ser coherentes con la </a:t>
            </a:r>
            <a:r>
              <a:rPr lang="es-MX" b="1" dirty="0"/>
              <a:t>introducción</a:t>
            </a:r>
            <a:r>
              <a:rPr lang="es-MX" dirty="0"/>
              <a:t> y medibles en la </a:t>
            </a:r>
            <a:r>
              <a:rPr lang="es-MX" b="1" dirty="0"/>
              <a:t>validación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5665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F64AD-26CF-4379-9261-1215F515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</a:t>
            </a:r>
            <a:br>
              <a:rPr lang="es-MX" dirty="0"/>
            </a:br>
            <a:r>
              <a:rPr lang="es-MX" sz="3600" dirty="0">
                <a:solidFill>
                  <a:srgbClr val="0070C0"/>
                </a:solidFill>
              </a:rPr>
              <a:t>Ejemplo breve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8A82C1-AAFF-4DA1-A45C-BF221A70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General:</a:t>
            </a:r>
            <a:r>
              <a:rPr lang="es-MX" dirty="0"/>
              <a:t> </a:t>
            </a:r>
            <a:r>
              <a:rPr lang="es-MX" i="1" dirty="0"/>
              <a:t>Desarrollar un prototipo funcional de un sistema de recomendación para apoyar la toma de decisiones académicas.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Específicos: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i="1" dirty="0"/>
              <a:t>Analizar trabajos previos y seleccionar técnicas de filtrado colaborativo.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i="1" dirty="0"/>
              <a:t>Implementar un modelo de recomendación en Python.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i="1" dirty="0"/>
              <a:t>Validar el prototipo con métricas de precisión y satisfacción de usuarios.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482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33204-2011-4545-B64A-3FCC402A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3. Desarrollo conceptual (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A8DEC3-551B-42E8-AB3D-7DC15930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3.1 Empatizar</a:t>
            </a:r>
          </a:p>
          <a:p>
            <a:pPr marL="0" indent="0">
              <a:buNone/>
            </a:pPr>
            <a:r>
              <a:rPr lang="es-MX" dirty="0"/>
              <a:t>3.2 Definir (HMW + criterios de éxito)</a:t>
            </a:r>
          </a:p>
          <a:p>
            <a:pPr marL="0" indent="0">
              <a:buNone/>
            </a:pPr>
            <a:r>
              <a:rPr lang="es-MX" dirty="0"/>
              <a:t>3.3 Investigación de antecedentes</a:t>
            </a:r>
            <a:br>
              <a:rPr lang="es-MX" dirty="0"/>
            </a:br>
            <a:r>
              <a:rPr lang="es-MX" dirty="0"/>
              <a:t>  3.3.1 </a:t>
            </a:r>
            <a:r>
              <a:rPr lang="es-MX" b="1" dirty="0">
                <a:highlight>
                  <a:srgbClr val="FFFF00"/>
                </a:highlight>
              </a:rPr>
              <a:t>Fundamento teórico</a:t>
            </a:r>
            <a:br>
              <a:rPr lang="es-MX" dirty="0"/>
            </a:br>
            <a:r>
              <a:rPr lang="es-MX" dirty="0"/>
              <a:t>  3.3.2 Trabajos previos (estado del arte, tabla comparativa)</a:t>
            </a:r>
            <a:br>
              <a:rPr lang="es-MX" dirty="0"/>
            </a:br>
            <a:r>
              <a:rPr lang="es-MX" dirty="0"/>
              <a:t>3.4 Idear</a:t>
            </a:r>
            <a:br>
              <a:rPr lang="es-MX" dirty="0"/>
            </a:br>
            <a:r>
              <a:rPr lang="es-MX" dirty="0"/>
              <a:t>3.5 Prototipar (tipo y justificación)</a:t>
            </a:r>
            <a:br>
              <a:rPr lang="es-MX" dirty="0"/>
            </a:br>
            <a:r>
              <a:rPr lang="es-MX" dirty="0"/>
              <a:t>3.6 Selección de prototipo (matriz y criterios)</a:t>
            </a:r>
          </a:p>
        </p:txBody>
      </p:sp>
    </p:spTree>
    <p:extLst>
      <p:ext uri="{BB962C8B-B14F-4D97-AF65-F5344CB8AC3E}">
        <p14:creationId xmlns:p14="http://schemas.microsoft.com/office/powerpoint/2010/main" val="342660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5E0C5-2648-45DD-849B-C86CECF6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735E6-4600-4657-A132-FB7F5226A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https://www.youtube.com/watch?v=_H33tA2-j0s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4806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01CF8-4E84-45A3-BF68-10A6DF99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1EA21-EB2D-4504-ABA6-A9D12CCBB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 una </a:t>
            </a:r>
            <a:r>
              <a:rPr lang="es-MX" b="1" dirty="0"/>
              <a:t>metodología de innovación centrada en el usuario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Busca </a:t>
            </a:r>
            <a:r>
              <a:rPr lang="es-MX" b="1" dirty="0"/>
              <a:t>entender necesidades reales</a:t>
            </a:r>
            <a:r>
              <a:rPr lang="es-MX" dirty="0"/>
              <a:t>, </a:t>
            </a:r>
            <a:r>
              <a:rPr lang="es-MX" b="1" dirty="0"/>
              <a:t>definir problemas claros</a:t>
            </a:r>
            <a:r>
              <a:rPr lang="es-MX" dirty="0"/>
              <a:t>, </a:t>
            </a:r>
            <a:r>
              <a:rPr lang="es-MX" b="1" dirty="0"/>
              <a:t>generar ideas creativas</a:t>
            </a:r>
            <a:r>
              <a:rPr lang="es-MX" dirty="0"/>
              <a:t> y </a:t>
            </a:r>
            <a:r>
              <a:rPr lang="es-MX" b="1" dirty="0"/>
              <a:t>construir prototipos</a:t>
            </a:r>
            <a:r>
              <a:rPr lang="es-MX" dirty="0"/>
              <a:t> para validarlos rápidamente.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basa en </a:t>
            </a:r>
            <a:r>
              <a:rPr lang="es-MX" b="1" dirty="0"/>
              <a:t>5 etapas principales</a:t>
            </a:r>
            <a:r>
              <a:rPr lang="es-MX" dirty="0"/>
              <a:t>: Empatizar, Definir, Idear, Prototipar y Testear.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En este proyecto </a:t>
            </a:r>
            <a:r>
              <a:rPr lang="es-MX" b="1" dirty="0"/>
              <a:t>no haremos “Testear” aquí</a:t>
            </a:r>
            <a:r>
              <a:rPr lang="es-MX" dirty="0"/>
              <a:t>, porque la validación se desarrolla en el </a:t>
            </a:r>
            <a:r>
              <a:rPr lang="es-MX" b="1" dirty="0"/>
              <a:t>Capítulo 6 (Validación y diseño experimental)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19507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3264C-217B-4BE7-9E68-85A89C9E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 en este trabajo?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C7FB10-04B8-4F25-9811-17E2EC08DF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9970"/>
            <a:ext cx="10515600" cy="428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una metodología para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diseñar soluciones centradas en las personas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 solo una teoría bonita.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este Trabajo de Innovación se usa para: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Entender bien a los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usuarios y su contexto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Aterrizar el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 real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se quiere resolver.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ideas de solución con IA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elegir la más viable.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un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prototipo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claro de lo que se va a desarrollar.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Lo importante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no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es que el documento diga “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Design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Thinking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tiene 5 fases…”,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sino que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se vea que el equipo lo aplicó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y muestre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evidencias y resultados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de cada etapa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7136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9FCD7-AF1A-4DA1-AB85-1F776C68B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Etapas de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 (adaptadas a tu proyecto de IA)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EC1B2D-4BB3-4331-9AB8-912FDED5AB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467" y="1911877"/>
            <a:ext cx="10916355" cy="4178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la práctica de este trabajo, las etapas clave son: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Empatizar: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conocer a usuarios, contexto, necesidades y dolores.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formular claramente el problema / reto a resolver.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Investigación de antecedentes: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qué soluciones y trabajos previos existen.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Idear: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generar varias alternativas de solución con IA.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Prototipar: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decidir qué tipo de solución se va a construir (MVP, app, modelo, servicio, etc.).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Selección de prototipos y criterio: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justificar por qué se elige el prototipo final.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validación / testeo exhaustivo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vendrá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después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 Metodología y Validación, no es el foco de esta primera entrega.</a:t>
            </a:r>
          </a:p>
        </p:txBody>
      </p:sp>
    </p:spTree>
    <p:extLst>
      <p:ext uri="{BB962C8B-B14F-4D97-AF65-F5344CB8AC3E}">
        <p14:creationId xmlns:p14="http://schemas.microsoft.com/office/powerpoint/2010/main" val="388213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2EE3B-4FD2-4AE2-9EE2-CA50287C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¿En qué parte del documento va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995852-8012-45CE-A5B4-11579CFB9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9176" y="1761716"/>
            <a:ext cx="1060873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 lo relacionado con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Thinking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debe ir en el capítulo: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“Desarrollo conceptual”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plantilla.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Dentro de ese capítulo, deben aparecer como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subsecciones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al menos, como bloques claros):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Empatizar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Definir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Investigación de antecedentes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Idear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Prototipar: cuál será el prototipo que vas a utilizar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Selección de prototipos y criterio para hacerlo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primera entrega debe abarcar e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 desarrollo completo de esas etapas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hasta dejar bien definido: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ideas consideradas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prototipo elegido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los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esa elección.</a:t>
            </a:r>
          </a:p>
        </p:txBody>
      </p:sp>
    </p:spTree>
    <p:extLst>
      <p:ext uri="{BB962C8B-B14F-4D97-AF65-F5344CB8AC3E}">
        <p14:creationId xmlns:p14="http://schemas.microsoft.com/office/powerpoint/2010/main" val="404498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2DBE9-2959-4936-9082-F3253718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Empatizar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15CB6E-8614-4C1C-9CE2-3255DE92F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b="1" dirty="0"/>
              <a:t>¿Qué es?</a:t>
            </a:r>
            <a:endParaRPr lang="es-MX" dirty="0"/>
          </a:p>
          <a:p>
            <a:pPr lvl="1"/>
            <a:r>
              <a:rPr lang="es-MX" dirty="0"/>
              <a:t>Conocer al usuario final, sus necesidades, frustraciones y motivaciones.</a:t>
            </a:r>
          </a:p>
          <a:p>
            <a:r>
              <a:rPr lang="es-MX" b="1" dirty="0"/>
              <a:t>Qué debe incluir el documento:</a:t>
            </a:r>
            <a:endParaRPr lang="es-MX" dirty="0"/>
          </a:p>
          <a:p>
            <a:pPr lvl="1"/>
            <a:r>
              <a:rPr lang="es-MX" dirty="0"/>
              <a:t>Breve descripción de la metodología usada (entrevista, encuesta, observación).</a:t>
            </a:r>
          </a:p>
          <a:p>
            <a:r>
              <a:rPr lang="es-MX" b="1" dirty="0"/>
              <a:t>Perfil del usuario</a:t>
            </a:r>
            <a:r>
              <a:rPr lang="es-MX" dirty="0"/>
              <a:t> (edad, rol, contexto).</a:t>
            </a:r>
          </a:p>
          <a:p>
            <a:r>
              <a:rPr lang="es-MX" b="1" dirty="0"/>
              <a:t>Mapa de empatía</a:t>
            </a:r>
            <a:r>
              <a:rPr lang="es-MX" dirty="0"/>
              <a:t> o lista de </a:t>
            </a:r>
            <a:r>
              <a:rPr lang="es-MX" i="1" dirty="0" err="1"/>
              <a:t>pains</a:t>
            </a:r>
            <a:r>
              <a:rPr lang="es-MX" dirty="0"/>
              <a:t> (dolores) y </a:t>
            </a:r>
            <a:r>
              <a:rPr lang="es-MX" i="1" dirty="0" err="1"/>
              <a:t>gains</a:t>
            </a:r>
            <a:r>
              <a:rPr lang="es-MX" dirty="0"/>
              <a:t> (beneficios esperados).</a:t>
            </a:r>
          </a:p>
          <a:p>
            <a:r>
              <a:rPr lang="es-MX" b="1" dirty="0"/>
              <a:t>Redacción esperada:</a:t>
            </a:r>
            <a:endParaRPr lang="es-MX" dirty="0"/>
          </a:p>
          <a:p>
            <a:pPr lvl="1"/>
            <a:r>
              <a:rPr lang="es-MX" dirty="0"/>
              <a:t>1 párrafo explicando qué es empatizar.</a:t>
            </a:r>
          </a:p>
          <a:p>
            <a:pPr lvl="1"/>
            <a:r>
              <a:rPr lang="es-MX" dirty="0"/>
              <a:t>2–6 párrafos narrando </a:t>
            </a:r>
            <a:r>
              <a:rPr lang="es-MX" b="1" dirty="0"/>
              <a:t>cómo llevaron a la práctica esta etapa</a:t>
            </a:r>
            <a:r>
              <a:rPr lang="es-MX" dirty="0"/>
              <a:t> (ejemplo: “Aplicamos encuestas a 15 estudiantes para identificar…”).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3405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A343A-9B4A-432D-A836-999CF667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Empatizar : qué evidencias esperar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705DE-B46B-4988-A83E-867A74C9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C00000"/>
                </a:solidFill>
              </a:rPr>
              <a:t>Empatizar</a:t>
            </a:r>
            <a:r>
              <a:rPr lang="es-MX" sz="2000" b="1" dirty="0"/>
              <a:t> – evidencias recomendadas:</a:t>
            </a:r>
            <a:endParaRPr lang="es-MX" sz="2000" dirty="0"/>
          </a:p>
          <a:p>
            <a:r>
              <a:rPr lang="es-MX" sz="2000" dirty="0"/>
              <a:t>Descripción de los </a:t>
            </a:r>
            <a:r>
              <a:rPr lang="es-MX" sz="2000" b="1" dirty="0"/>
              <a:t>tipos de usuarios</a:t>
            </a:r>
            <a:r>
              <a:rPr lang="es-MX" sz="2000" dirty="0"/>
              <a:t> / actores (perfiles, roles, contexto).</a:t>
            </a:r>
          </a:p>
          <a:p>
            <a:r>
              <a:rPr lang="es-MX" sz="2000" dirty="0"/>
              <a:t>Qué técnicas se usaron: </a:t>
            </a:r>
            <a:r>
              <a:rPr lang="es-MX" sz="2000" b="1" dirty="0"/>
              <a:t>entrevistas, encuestas, observación, análisis de procesos, etc.</a:t>
            </a:r>
            <a:endParaRPr lang="es-MX" sz="2000" dirty="0"/>
          </a:p>
          <a:p>
            <a:r>
              <a:rPr lang="es-MX" sz="2000" b="1" dirty="0"/>
              <a:t>Tabla sugerida:</a:t>
            </a:r>
            <a:endParaRPr lang="es-MX" sz="2000" dirty="0"/>
          </a:p>
          <a:p>
            <a:pPr lvl="1"/>
            <a:r>
              <a:rPr lang="es-MX" sz="1600" dirty="0"/>
              <a:t>Filas: participantes / fuentes de información.</a:t>
            </a:r>
          </a:p>
          <a:p>
            <a:pPr lvl="1"/>
            <a:r>
              <a:rPr lang="es-MX" sz="1600" dirty="0"/>
              <a:t>Columnas: perfil, método (entrevista/encuesta), fecha, hallazgos clave.</a:t>
            </a:r>
          </a:p>
          <a:p>
            <a:r>
              <a:rPr lang="es-MX" sz="2000" dirty="0"/>
              <a:t>Puede añadirse un </a:t>
            </a:r>
            <a:r>
              <a:rPr lang="es-MX" sz="2000" b="1" dirty="0"/>
              <a:t>mapa de empatía</a:t>
            </a:r>
            <a:r>
              <a:rPr lang="es-MX" sz="2000" dirty="0"/>
              <a:t> o una </a:t>
            </a:r>
            <a:r>
              <a:rPr lang="es-MX" sz="2000" b="1" dirty="0"/>
              <a:t>persona</a:t>
            </a:r>
            <a:r>
              <a:rPr lang="es-MX" sz="2000" dirty="0"/>
              <a:t> (texto + imagen simple).</a:t>
            </a:r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6721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20AEC-7FBE-46B8-BE97-4ECB8FF2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Definir (HMW + criterios de éxito)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EBFE6E-A388-44F6-B901-CE5937CA1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b="1" dirty="0"/>
              <a:t>¿Qué es?</a:t>
            </a:r>
            <a:endParaRPr lang="es-MX" dirty="0"/>
          </a:p>
          <a:p>
            <a:pPr lvl="1"/>
            <a:r>
              <a:rPr lang="es-MX" dirty="0"/>
              <a:t>Transformar hallazgos de empatía en un </a:t>
            </a:r>
            <a:r>
              <a:rPr lang="es-MX" b="1" dirty="0"/>
              <a:t>problema claro y accionable</a:t>
            </a:r>
            <a:r>
              <a:rPr lang="es-MX" dirty="0"/>
              <a:t>.</a:t>
            </a:r>
          </a:p>
          <a:p>
            <a:r>
              <a:rPr lang="es-MX" b="1" dirty="0"/>
              <a:t>Qué debe incluir el documento:</a:t>
            </a:r>
            <a:endParaRPr lang="es-MX" dirty="0"/>
          </a:p>
          <a:p>
            <a:pPr lvl="1"/>
            <a:r>
              <a:rPr lang="es-MX" dirty="0"/>
              <a:t>2–8 enunciados en formato </a:t>
            </a:r>
            <a:r>
              <a:rPr lang="es-MX" b="1" dirty="0"/>
              <a:t>HMW (</a:t>
            </a:r>
            <a:r>
              <a:rPr lang="es-MX" b="1" dirty="0" err="1"/>
              <a:t>How</a:t>
            </a:r>
            <a:r>
              <a:rPr lang="es-MX" b="1" dirty="0"/>
              <a:t> </a:t>
            </a:r>
            <a:r>
              <a:rPr lang="es-MX" b="1" dirty="0" err="1"/>
              <a:t>Might</a:t>
            </a:r>
            <a:r>
              <a:rPr lang="es-MX" b="1" dirty="0"/>
              <a:t> </a:t>
            </a:r>
            <a:r>
              <a:rPr lang="es-MX" b="1" dirty="0" err="1"/>
              <a:t>We</a:t>
            </a:r>
            <a:r>
              <a:rPr lang="es-MX" b="1" dirty="0"/>
              <a:t>… / ¿Cómo podríamos…?)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Definir </a:t>
            </a:r>
            <a:r>
              <a:rPr lang="es-MX" b="1" dirty="0"/>
              <a:t>criterios de éxito</a:t>
            </a:r>
            <a:r>
              <a:rPr lang="es-MX" dirty="0"/>
              <a:t>: indicadores que muestren cuándo la solución cumple con lo esperado (ej. usabilidad, tiempo de respuesta, reducción de errores).</a:t>
            </a:r>
          </a:p>
          <a:p>
            <a:r>
              <a:rPr lang="es-MX" b="1" dirty="0"/>
              <a:t>Redacción esperada:</a:t>
            </a:r>
            <a:endParaRPr lang="es-MX" dirty="0"/>
          </a:p>
          <a:p>
            <a:pPr lvl="1"/>
            <a:r>
              <a:rPr lang="es-MX" dirty="0"/>
              <a:t>Explicar en qué consiste la etapa Definir.</a:t>
            </a:r>
          </a:p>
          <a:p>
            <a:pPr lvl="1"/>
            <a:r>
              <a:rPr lang="es-MX" dirty="0"/>
              <a:t>Mostrar sus </a:t>
            </a:r>
            <a:r>
              <a:rPr lang="es-MX" b="1" dirty="0"/>
              <a:t>HMW</a:t>
            </a:r>
            <a:r>
              <a:rPr lang="es-MX" dirty="0"/>
              <a:t> redactados.</a:t>
            </a:r>
          </a:p>
          <a:p>
            <a:pPr lvl="1"/>
            <a:r>
              <a:rPr lang="es-MX" dirty="0"/>
              <a:t>Enumerar sus </a:t>
            </a:r>
            <a:r>
              <a:rPr lang="es-MX" b="1" dirty="0"/>
              <a:t>criterios de éxito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20434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A343A-9B4A-432D-A836-999CF667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Definir : qué evidencias esperar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705DE-B46B-4988-A83E-867A74C9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C00000"/>
                </a:solidFill>
              </a:rPr>
              <a:t>Definir</a:t>
            </a:r>
            <a:r>
              <a:rPr lang="es-MX" sz="2000" b="1" dirty="0"/>
              <a:t> – evidencias recomendadas:</a:t>
            </a:r>
            <a:endParaRPr lang="es-MX" sz="2000" dirty="0"/>
          </a:p>
          <a:p>
            <a:r>
              <a:rPr lang="es-MX" sz="2000" dirty="0"/>
              <a:t>Formulación explícita del </a:t>
            </a:r>
            <a:r>
              <a:rPr lang="es-MX" sz="2000" b="1" dirty="0"/>
              <a:t>reto / problema</a:t>
            </a:r>
            <a:r>
              <a:rPr lang="es-MX" sz="2000" dirty="0"/>
              <a:t>, por ejemplo:</a:t>
            </a:r>
          </a:p>
          <a:p>
            <a:pPr lvl="1"/>
            <a:r>
              <a:rPr lang="es-MX" sz="1600" dirty="0"/>
              <a:t>“¿Cómo podríamos [mejorar X] para [usuarios Y] usando IA en [contexto Z]?”</a:t>
            </a:r>
          </a:p>
          <a:p>
            <a:r>
              <a:rPr lang="es-MX" sz="2000" dirty="0"/>
              <a:t>Conexión clara entre </a:t>
            </a:r>
            <a:r>
              <a:rPr lang="es-MX" sz="2000" b="1" dirty="0"/>
              <a:t>lo que se vio al empatizar</a:t>
            </a:r>
            <a:r>
              <a:rPr lang="es-MX" sz="2000" dirty="0"/>
              <a:t> y la formulación del problema.</a:t>
            </a:r>
          </a:p>
          <a:p>
            <a:r>
              <a:rPr lang="es-MX" sz="2000" b="1" dirty="0"/>
              <a:t>Tabla sugerida:</a:t>
            </a:r>
            <a:endParaRPr lang="es-MX" sz="2000" dirty="0"/>
          </a:p>
          <a:p>
            <a:pPr lvl="1"/>
            <a:r>
              <a:rPr lang="es-MX" sz="1600" dirty="0"/>
              <a:t>Columnas: </a:t>
            </a:r>
            <a:r>
              <a:rPr lang="es-MX" sz="1600" dirty="0" err="1"/>
              <a:t>insight</a:t>
            </a:r>
            <a:r>
              <a:rPr lang="es-MX" sz="1600" dirty="0"/>
              <a:t> / necesidad detectada → requerimiento / criterio de diseño.</a:t>
            </a:r>
          </a:p>
        </p:txBody>
      </p:sp>
    </p:spTree>
    <p:extLst>
      <p:ext uri="{BB962C8B-B14F-4D97-AF65-F5344CB8AC3E}">
        <p14:creationId xmlns:p14="http://schemas.microsoft.com/office/powerpoint/2010/main" val="399562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EC50F-FB4E-4CC9-BF7C-6E406C8C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Investigación de antecedentes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3D2E3B-794F-43F3-B9A7-20B01F33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b="1" dirty="0"/>
              <a:t>¿Qué es?</a:t>
            </a:r>
            <a:endParaRPr lang="es-MX" dirty="0"/>
          </a:p>
          <a:p>
            <a:pPr lvl="1"/>
            <a:r>
              <a:rPr lang="es-MX" dirty="0"/>
              <a:t>Conectar el problema con conocimiento existente y soluciones previas.</a:t>
            </a:r>
          </a:p>
          <a:p>
            <a:r>
              <a:rPr lang="es-MX" b="1" dirty="0"/>
              <a:t>Qué debe incluir el documento:</a:t>
            </a:r>
            <a:endParaRPr lang="es-MX" dirty="0"/>
          </a:p>
          <a:p>
            <a:pPr lvl="1"/>
            <a:r>
              <a:rPr lang="es-MX" b="1" dirty="0"/>
              <a:t>Fundamento teórico</a:t>
            </a:r>
            <a:r>
              <a:rPr lang="es-MX" dirty="0"/>
              <a:t>: conceptos clave que sustentan el proyecto (ej. ML, IA, redes neuronales, sistemas).</a:t>
            </a:r>
          </a:p>
          <a:p>
            <a:pPr lvl="1"/>
            <a:r>
              <a:rPr lang="es-MX" b="1" dirty="0"/>
              <a:t>Trabajos previos / estado del arte</a:t>
            </a:r>
            <a:r>
              <a:rPr lang="es-MX" dirty="0"/>
              <a:t>: análisis de proyectos, artículos o sistemas similares.</a:t>
            </a:r>
          </a:p>
          <a:p>
            <a:pPr lvl="1"/>
            <a:r>
              <a:rPr lang="es-MX" b="1" dirty="0"/>
              <a:t>Síntesis integradora:</a:t>
            </a:r>
            <a:r>
              <a:rPr lang="es-MX" dirty="0"/>
              <a:t> destacar semejanzas y diferencias entre los estudios revisados, señalando tendencias o vacíos.</a:t>
            </a:r>
          </a:p>
          <a:p>
            <a:pPr lvl="1"/>
            <a:r>
              <a:rPr lang="es-MX" b="1" dirty="0"/>
              <a:t>Conclusión de la sección:</a:t>
            </a:r>
            <a:r>
              <a:rPr lang="es-MX" dirty="0"/>
              <a:t> redactar un párrafo que identifique la brecha específica que su proyecto pretende cubrir.</a:t>
            </a:r>
          </a:p>
          <a:p>
            <a:r>
              <a:rPr lang="es-MX" b="1" dirty="0"/>
              <a:t>Redacción esperada:</a:t>
            </a:r>
            <a:endParaRPr lang="es-MX" dirty="0"/>
          </a:p>
          <a:p>
            <a:pPr lvl="1"/>
            <a:r>
              <a:rPr lang="es-MX" dirty="0"/>
              <a:t>Un texto breve que introduzca la importancia del análisis de antecedentes.</a:t>
            </a:r>
          </a:p>
          <a:p>
            <a:pPr lvl="1"/>
            <a:r>
              <a:rPr lang="es-MX" dirty="0"/>
              <a:t>Desarrollo en prosa que explique los hallazgos de cada fuente revisada, enlazando unas con otras.</a:t>
            </a:r>
          </a:p>
          <a:p>
            <a:pPr lvl="1"/>
            <a:r>
              <a:rPr lang="es-MX" dirty="0"/>
              <a:t>Párrafo final que resuma lo aprendido y justifique por qué su propuesta es necesaria.</a:t>
            </a:r>
          </a:p>
        </p:txBody>
      </p:sp>
    </p:spTree>
    <p:extLst>
      <p:ext uri="{BB962C8B-B14F-4D97-AF65-F5344CB8AC3E}">
        <p14:creationId xmlns:p14="http://schemas.microsoft.com/office/powerpoint/2010/main" val="1326461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D32B9-6757-41FB-AFF5-E7D276DD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Investigación de antecedentes: evidencias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F4D0FD-2FCB-45AF-85F4-9A39FE8E4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solidFill>
                  <a:srgbClr val="C00000"/>
                </a:solidFill>
              </a:rPr>
              <a:t>Investigación de antecedentes </a:t>
            </a:r>
            <a:r>
              <a:rPr lang="es-MX" b="1" dirty="0"/>
              <a:t>– evidencias recomendadas:</a:t>
            </a:r>
            <a:endParaRPr lang="es-MX" dirty="0"/>
          </a:p>
          <a:p>
            <a:r>
              <a:rPr lang="es-MX" dirty="0"/>
              <a:t>Breve resumen de </a:t>
            </a:r>
            <a:r>
              <a:rPr lang="es-MX" b="1" dirty="0"/>
              <a:t>soluciones actuales</a:t>
            </a:r>
            <a:r>
              <a:rPr lang="es-MX" dirty="0"/>
              <a:t> (manuales o tecnológicas).</a:t>
            </a:r>
          </a:p>
          <a:p>
            <a:r>
              <a:rPr lang="es-MX" dirty="0"/>
              <a:t>Referencia a </a:t>
            </a:r>
            <a:r>
              <a:rPr lang="es-MX" b="1" dirty="0"/>
              <a:t>trabajos previos y estado del arte en IA</a:t>
            </a:r>
            <a:r>
              <a:rPr lang="es-MX" dirty="0"/>
              <a:t> relacionados.</a:t>
            </a:r>
          </a:p>
          <a:p>
            <a:r>
              <a:rPr lang="es-MX" b="1" dirty="0"/>
              <a:t>Tabla sugerida:</a:t>
            </a:r>
            <a:endParaRPr lang="es-MX" dirty="0"/>
          </a:p>
          <a:p>
            <a:pPr lvl="1"/>
            <a:r>
              <a:rPr lang="es-MX" dirty="0"/>
              <a:t>Columnas: solución / trabajo previo, qué hace, fortalezas, debilidades, oportunidades de mejora.</a:t>
            </a:r>
          </a:p>
          <a:p>
            <a:pPr lvl="1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83818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B2694-7B3E-4AF5-9FE9-174F7557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Idear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A0E40C-D650-4D88-91C3-3A6628C8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b="1" dirty="0"/>
              <a:t>¿Qué es?</a:t>
            </a:r>
            <a:endParaRPr lang="es-MX" dirty="0"/>
          </a:p>
          <a:p>
            <a:pPr lvl="1"/>
            <a:r>
              <a:rPr lang="es-MX" dirty="0"/>
              <a:t>Generar un abanico de soluciones creativas.</a:t>
            </a:r>
          </a:p>
          <a:p>
            <a:r>
              <a:rPr lang="es-MX" b="1" dirty="0"/>
              <a:t>Qué debe incluir el documento:</a:t>
            </a:r>
            <a:endParaRPr lang="es-MX" dirty="0"/>
          </a:p>
          <a:p>
            <a:pPr lvl="1"/>
            <a:r>
              <a:rPr lang="es-MX" dirty="0"/>
              <a:t>Lista de </a:t>
            </a:r>
            <a:r>
              <a:rPr lang="es-MX" b="1" dirty="0"/>
              <a:t>alternativas de solución</a:t>
            </a:r>
            <a:r>
              <a:rPr lang="es-MX" dirty="0"/>
              <a:t> (mínimo 3).</a:t>
            </a:r>
          </a:p>
          <a:p>
            <a:pPr lvl="1"/>
            <a:r>
              <a:rPr lang="es-MX" b="1" dirty="0"/>
              <a:t>Criterios de evaluación</a:t>
            </a:r>
            <a:r>
              <a:rPr lang="es-MX" dirty="0"/>
              <a:t>: costo, viabilidad, impacto, </a:t>
            </a:r>
            <a:r>
              <a:rPr lang="es-MX" dirty="0">
                <a:highlight>
                  <a:srgbClr val="FFFF00"/>
                </a:highlight>
              </a:rPr>
              <a:t>alineación con MELDS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Explicar brevemente el proceso de </a:t>
            </a:r>
            <a:r>
              <a:rPr lang="es-MX" b="1" dirty="0"/>
              <a:t>selección de la mejor alternativa</a:t>
            </a:r>
            <a:r>
              <a:rPr lang="es-MX" dirty="0"/>
              <a:t>.</a:t>
            </a:r>
          </a:p>
          <a:p>
            <a:r>
              <a:rPr lang="es-MX" b="1" dirty="0"/>
              <a:t>Redacción esperada:</a:t>
            </a:r>
            <a:endParaRPr lang="es-MX" dirty="0"/>
          </a:p>
          <a:p>
            <a:pPr lvl="1"/>
            <a:r>
              <a:rPr lang="es-MX" dirty="0"/>
              <a:t>1 párrafo sobre qué es la etapa.</a:t>
            </a:r>
          </a:p>
          <a:p>
            <a:pPr lvl="1"/>
            <a:r>
              <a:rPr lang="es-MX" dirty="0"/>
              <a:t>1 lista con ideas generadas.</a:t>
            </a:r>
          </a:p>
          <a:p>
            <a:pPr lvl="1"/>
            <a:r>
              <a:rPr lang="es-MX" dirty="0"/>
              <a:t>Explicación de la selección (ejemplo: “De 5 ideas, elegimos la #3 porque cumplía mejor con…”).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8026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D32B9-6757-41FB-AFF5-E7D276DD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Idear: evidencias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F4D0FD-2FCB-45AF-85F4-9A39FE8E4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solidFill>
                  <a:srgbClr val="C00000"/>
                </a:solidFill>
              </a:rPr>
              <a:t>Idear</a:t>
            </a:r>
            <a:r>
              <a:rPr lang="es-MX" b="1" dirty="0"/>
              <a:t> – evidencias recomendadas:</a:t>
            </a:r>
            <a:endParaRPr lang="es-MX" dirty="0"/>
          </a:p>
          <a:p>
            <a:r>
              <a:rPr lang="es-MX" dirty="0"/>
              <a:t>Lista de </a:t>
            </a:r>
            <a:r>
              <a:rPr lang="es-MX" b="1" dirty="0"/>
              <a:t>ideas de solución</a:t>
            </a:r>
            <a:r>
              <a:rPr lang="es-MX" dirty="0"/>
              <a:t> generadas (no solo la final).</a:t>
            </a:r>
          </a:p>
          <a:p>
            <a:r>
              <a:rPr lang="es-MX" dirty="0"/>
              <a:t>Mostrar que se pensó en </a:t>
            </a:r>
            <a:r>
              <a:rPr lang="es-MX" b="1" dirty="0"/>
              <a:t>varios enfoques de IA</a:t>
            </a:r>
            <a:r>
              <a:rPr lang="es-MX" dirty="0"/>
              <a:t> (clasificación, recomendación, NLP, visión, etc., según aplique).</a:t>
            </a:r>
          </a:p>
          <a:p>
            <a:r>
              <a:rPr lang="es-MX" b="1" dirty="0"/>
              <a:t>Tabla sugerida de ideas:</a:t>
            </a:r>
            <a:endParaRPr lang="es-MX" dirty="0"/>
          </a:p>
          <a:p>
            <a:pPr lvl="1"/>
            <a:r>
              <a:rPr lang="es-MX" dirty="0"/>
              <a:t>Columnas: idea, descripción breve, impacto esperado, esfuerzo técnico, viabilidad.</a:t>
            </a:r>
          </a:p>
          <a:p>
            <a:r>
              <a:rPr lang="es-MX" dirty="0"/>
              <a:t>Se puede incluir un pequeño </a:t>
            </a:r>
            <a:r>
              <a:rPr lang="es-MX" b="1" dirty="0"/>
              <a:t>esquema o diagrama</a:t>
            </a:r>
            <a:r>
              <a:rPr lang="es-MX" dirty="0"/>
              <a:t> de las 2–3 ideas mejor posicionadas.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11445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ACE0D-4327-4A93-9154-7EC7FA03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A548CD-0E37-4474-827E-1A8FE44D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¿Qué es?</a:t>
            </a:r>
            <a:endParaRPr lang="es-MX" dirty="0"/>
          </a:p>
          <a:p>
            <a:pPr lvl="1"/>
            <a:r>
              <a:rPr lang="es-MX" dirty="0"/>
              <a:t>Construir </a:t>
            </a:r>
            <a:r>
              <a:rPr lang="es-MX" dirty="0">
                <a:highlight>
                  <a:srgbClr val="FFFF00"/>
                </a:highlight>
              </a:rPr>
              <a:t>una primera versión </a:t>
            </a:r>
            <a:r>
              <a:rPr lang="es-MX" dirty="0"/>
              <a:t>del producto, tangible o digital, que permita validar hipótesis.</a:t>
            </a:r>
          </a:p>
          <a:p>
            <a:r>
              <a:rPr lang="es-MX" b="1" dirty="0"/>
              <a:t>Qué debe incluir el documento:</a:t>
            </a:r>
            <a:endParaRPr lang="es-MX" dirty="0"/>
          </a:p>
          <a:p>
            <a:pPr lvl="1"/>
            <a:r>
              <a:rPr lang="es-MX" dirty="0"/>
              <a:t>Indicar el </a:t>
            </a:r>
            <a:r>
              <a:rPr lang="es-MX" b="1" dirty="0"/>
              <a:t>tipo de prototipo</a:t>
            </a:r>
            <a:r>
              <a:rPr lang="es-MX" dirty="0"/>
              <a:t>: baja fidelidad (dibujos, mockups, </a:t>
            </a:r>
            <a:r>
              <a:rPr lang="es-MX" dirty="0" err="1"/>
              <a:t>wireframes</a:t>
            </a:r>
            <a:r>
              <a:rPr lang="es-MX" dirty="0"/>
              <a:t>) o alta fidelidad (demo funcional, notebook, app mínima).</a:t>
            </a:r>
          </a:p>
          <a:p>
            <a:pPr lvl="1"/>
            <a:r>
              <a:rPr lang="es-MX" dirty="0"/>
              <a:t>Justificación: ¿por qué ese tipo de prototipo es el adecuado para su proyecto?</a:t>
            </a:r>
          </a:p>
          <a:p>
            <a:r>
              <a:rPr lang="es-MX" b="1" dirty="0"/>
              <a:t>Redacción esperada:</a:t>
            </a:r>
            <a:endParaRPr lang="es-MX" dirty="0"/>
          </a:p>
          <a:p>
            <a:pPr lvl="1"/>
            <a:r>
              <a:rPr lang="es-MX" dirty="0"/>
              <a:t>Breve descripción de qué es prototipar.</a:t>
            </a:r>
          </a:p>
          <a:p>
            <a:pPr lvl="1"/>
            <a:r>
              <a:rPr lang="es-MX" dirty="0"/>
              <a:t>Explicación de </a:t>
            </a:r>
            <a:r>
              <a:rPr lang="es-MX" b="1" dirty="0"/>
              <a:t>qué prototipo harán</a:t>
            </a:r>
            <a:r>
              <a:rPr lang="es-MX" dirty="0"/>
              <a:t> y cómo lo implementarán.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69689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35918-3C08-49FB-A6DC-513F2022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Prototipar: evidencias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1D98D8-4717-4A81-8784-2CC75D2A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C00000"/>
                </a:solidFill>
              </a:rPr>
              <a:t>Prototipar – evidencias recomendadas:</a:t>
            </a:r>
            <a:endParaRPr lang="es-MX" sz="2000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Descripción del </a:t>
            </a:r>
            <a:r>
              <a:rPr lang="es-MX" sz="2000" b="1" dirty="0"/>
              <a:t>prototipo que se va a desarrollar</a:t>
            </a:r>
            <a:r>
              <a:rPr lang="es-MX" sz="2000" dirty="0"/>
              <a:t> (MVP):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Tipo de solución: app web, panel, servicio, modelo integrado, </a:t>
            </a:r>
            <a:r>
              <a:rPr lang="es-MX" sz="1600" dirty="0" err="1"/>
              <a:t>chatbot</a:t>
            </a:r>
            <a:r>
              <a:rPr lang="es-MX" sz="1600" dirty="0"/>
              <a:t>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Qué hace el prototipo en términos de </a:t>
            </a:r>
            <a:r>
              <a:rPr lang="es-MX" sz="1600" b="1" dirty="0"/>
              <a:t>funcionalidad mínima</a:t>
            </a:r>
            <a:r>
              <a:rPr lang="es-MX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Bocetos simples (</a:t>
            </a:r>
            <a:r>
              <a:rPr lang="es-MX" sz="2000" dirty="0" err="1"/>
              <a:t>wireframes</a:t>
            </a:r>
            <a:r>
              <a:rPr lang="es-MX" sz="2000" dirty="0"/>
              <a:t>, diagramas de flujo, pantallazos ficticios).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Tabla sugerida:</a:t>
            </a:r>
            <a:endParaRPr lang="es-MX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Columnas: funcionalidad del prototipo, usuario que la usa, beneficio que obtiene.</a:t>
            </a:r>
          </a:p>
        </p:txBody>
      </p:sp>
    </p:spTree>
    <p:extLst>
      <p:ext uri="{BB962C8B-B14F-4D97-AF65-F5344CB8AC3E}">
        <p14:creationId xmlns:p14="http://schemas.microsoft.com/office/powerpoint/2010/main" val="1277771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28C79-5237-4B9F-AC2A-593B3FDC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Selección de prototipo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62704-CF06-48C1-BABB-EF0BC715A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¿Qué es?</a:t>
            </a:r>
            <a:endParaRPr lang="es-MX" dirty="0"/>
          </a:p>
          <a:p>
            <a:pPr lvl="1"/>
            <a:r>
              <a:rPr lang="es-MX" dirty="0"/>
              <a:t>Escoger la versión de prototipo que más conviene desarrollar y validar.</a:t>
            </a:r>
          </a:p>
          <a:p>
            <a:r>
              <a:rPr lang="es-MX" b="1" dirty="0"/>
              <a:t>Qué debe incluir el documento:</a:t>
            </a:r>
            <a:endParaRPr lang="es-MX" dirty="0"/>
          </a:p>
          <a:p>
            <a:pPr lvl="1"/>
            <a:r>
              <a:rPr lang="es-MX" dirty="0"/>
              <a:t>Una </a:t>
            </a:r>
            <a:r>
              <a:rPr lang="es-MX" b="1" dirty="0"/>
              <a:t>matriz de selección</a:t>
            </a:r>
            <a:r>
              <a:rPr lang="es-MX" dirty="0"/>
              <a:t> con criterios (ej. costo, tiempo, impacto, viabilidad técnica, alineación con MELDS).</a:t>
            </a:r>
          </a:p>
          <a:p>
            <a:pPr lvl="1"/>
            <a:r>
              <a:rPr lang="es-MX" dirty="0"/>
              <a:t>Descripción de la decisión final.</a:t>
            </a:r>
          </a:p>
          <a:p>
            <a:r>
              <a:rPr lang="es-MX" b="1" dirty="0"/>
              <a:t>Redacción esperada:</a:t>
            </a:r>
            <a:endParaRPr lang="es-MX" dirty="0"/>
          </a:p>
          <a:p>
            <a:pPr lvl="1"/>
            <a:r>
              <a:rPr lang="es-MX" dirty="0"/>
              <a:t>Explicar brevemente la importancia de seleccionar.</a:t>
            </a:r>
          </a:p>
          <a:p>
            <a:pPr lvl="1"/>
            <a:r>
              <a:rPr lang="es-MX" dirty="0"/>
              <a:t>Presentar la matriz (tabla).</a:t>
            </a:r>
          </a:p>
          <a:p>
            <a:pPr lvl="1"/>
            <a:r>
              <a:rPr lang="es-MX" dirty="0"/>
              <a:t>Párrafo justificando la elección del prototipo.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2380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35918-3C08-49FB-A6DC-513F2022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Selección de prototipos: evidencias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1D98D8-4717-4A81-8784-2CC75D2A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000" b="1" dirty="0">
                <a:solidFill>
                  <a:srgbClr val="C00000"/>
                </a:solidFill>
              </a:rPr>
              <a:t>Selección de prototipos y criterio – evidencias recomendadas:</a:t>
            </a:r>
            <a:endParaRPr lang="es-MX" sz="2000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Si se consideraron varios prototipos o variantes, listarlos.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Explicar los </a:t>
            </a:r>
            <a:r>
              <a:rPr lang="es-MX" sz="2000" b="1" dirty="0"/>
              <a:t>criterios de selección</a:t>
            </a:r>
            <a:r>
              <a:rPr lang="es-MX" sz="2000" dirty="0"/>
              <a:t>: impacto, viabilidad, datos disponibles, tiempo, riesgo,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Tabla sugerida comparativa:</a:t>
            </a:r>
            <a:endParaRPr lang="es-MX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Filas: prototipo A, B, C…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Columnas: impacto, viabilidad técnica, disponibilidad de datos, complejidad, alineación con objetivos.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Marcar claramente cuál se selecciona y por qué.</a:t>
            </a:r>
          </a:p>
        </p:txBody>
      </p:sp>
    </p:spTree>
    <p:extLst>
      <p:ext uri="{BB962C8B-B14F-4D97-AF65-F5344CB8AC3E}">
        <p14:creationId xmlns:p14="http://schemas.microsoft.com/office/powerpoint/2010/main" val="980076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C0D78-5982-4B5B-8B57-538FF7E1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 basta explicar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: hay que aplicarlo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742459-A7BF-4D23-8694-649E05AA4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1470"/>
            <a:ext cx="10608733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el documento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no se busca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un “mini marco teórico” de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Design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Thinking</a:t>
            </a:r>
            <a:b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(definiciones largas, historia, autores, etc.).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 que sí se evalúa es que: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vea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hicieron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cada etapa (acciones concretas).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vea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obtuvieron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(resultados, listas de necesidades, ideas, prototipos).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vea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 analizaron esos resultados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tomar decisiones.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Buenos ejemplos de evidencia: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Resumen de entrevistas con conclusiones.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Tablas que muestren cómo se pasó de necesidades → requisitos → ideas → prototipo elegido.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Figuras o diagramas simples que ilustren el proceso.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esta entrega, el foco está en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diseño y las decisiones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parte de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testeo con usuarios y métricas de rendimiento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desarrollará más adelante.</a:t>
            </a:r>
          </a:p>
        </p:txBody>
      </p:sp>
    </p:spTree>
    <p:extLst>
      <p:ext uri="{BB962C8B-B14F-4D97-AF65-F5344CB8AC3E}">
        <p14:creationId xmlns:p14="http://schemas.microsoft.com/office/powerpoint/2010/main" val="3203564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0489F-2833-4F24-A929-7CE9E7CC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y cierre del Capítulo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2C5F9B-873B-4641-87FD-B082FAA8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b="1" dirty="0"/>
              <a:t>Párrafo introductorio (al inicio del capítulo)</a:t>
            </a:r>
            <a:endParaRPr lang="es-MX" dirty="0"/>
          </a:p>
          <a:p>
            <a:pPr lvl="1"/>
            <a:r>
              <a:rPr lang="es-MX" dirty="0"/>
              <a:t>Breve explicación de qué trata el capítulo.</a:t>
            </a:r>
          </a:p>
          <a:p>
            <a:pPr lvl="1"/>
            <a:r>
              <a:rPr lang="es-MX" dirty="0"/>
              <a:t>Presenta que se trabajará con la metodología </a:t>
            </a:r>
            <a:r>
              <a:rPr lang="es-MX" b="1" dirty="0" err="1"/>
              <a:t>Design</a:t>
            </a:r>
            <a:r>
              <a:rPr lang="es-MX" b="1" dirty="0"/>
              <a:t> </a:t>
            </a:r>
            <a:r>
              <a:rPr lang="es-MX" b="1" dirty="0" err="1"/>
              <a:t>Thinking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Menciona qué etapas se abordarán (Empatizar, Definir, Antecedentes, Idear, Prototipar, Selección).</a:t>
            </a:r>
          </a:p>
          <a:p>
            <a:pPr lvl="1"/>
            <a:r>
              <a:rPr lang="es-MX" dirty="0"/>
              <a:t>Explica por qué estas etapas son clave para sentar las bases de la propuesta.</a:t>
            </a:r>
          </a:p>
          <a:p>
            <a:r>
              <a:rPr lang="es-MX" b="1" dirty="0"/>
              <a:t>Párrafo de cierre (al final del capítulo)</a:t>
            </a:r>
            <a:endParaRPr lang="es-MX" dirty="0"/>
          </a:p>
          <a:p>
            <a:pPr lvl="1"/>
            <a:r>
              <a:rPr lang="es-MX" dirty="0"/>
              <a:t>Resume brevemente qué se logró en cada etapa.</a:t>
            </a:r>
          </a:p>
          <a:p>
            <a:pPr lvl="1"/>
            <a:r>
              <a:rPr lang="es-MX" dirty="0"/>
              <a:t>Destaca cómo estas decisiones ayudan a perfilar la solución y justifican el prototipo seleccionado.</a:t>
            </a:r>
          </a:p>
          <a:p>
            <a:pPr lvl="1"/>
            <a:r>
              <a:rPr lang="es-MX" dirty="0"/>
              <a:t>Señala que este trabajo conceptual conecta con la </a:t>
            </a:r>
            <a:r>
              <a:rPr lang="es-MX" b="1" dirty="0"/>
              <a:t>Metodología (Scrum y Lean)</a:t>
            </a:r>
            <a:r>
              <a:rPr lang="es-MX" dirty="0"/>
              <a:t> del siguiente capítulo.</a:t>
            </a:r>
          </a:p>
          <a:p>
            <a:pPr lvl="1"/>
            <a:endParaRPr lang="es-MX" dirty="0"/>
          </a:p>
          <a:p>
            <a:pPr marL="457200" lvl="1" indent="0">
              <a:buNone/>
            </a:pPr>
            <a:r>
              <a:rPr lang="es-MX" dirty="0"/>
              <a:t>👉 Recomendación: máximo </a:t>
            </a:r>
            <a:r>
              <a:rPr lang="es-MX" b="1" dirty="0"/>
              <a:t>1 párrafo introductorio y 1 de conclusión</a:t>
            </a:r>
            <a:r>
              <a:rPr lang="es-MX" dirty="0"/>
              <a:t> (4–5 líneas cada uno).</a:t>
            </a:r>
            <a:br>
              <a:rPr lang="es-MX" dirty="0"/>
            </a:br>
            <a:r>
              <a:rPr lang="es-MX" dirty="0"/>
              <a:t>👉 El tono debe ser </a:t>
            </a:r>
            <a:r>
              <a:rPr lang="es-MX" b="1" dirty="0"/>
              <a:t>narrativo y de transición</a:t>
            </a:r>
            <a:r>
              <a:rPr lang="es-MX" dirty="0"/>
              <a:t>: abrir el capítulo y preparar el paso al siguiente.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1933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3BE85-93C4-4BE1-8769-7D1BC3A5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Checklist</a:t>
            </a:r>
            <a:r>
              <a:rPr lang="es-MX" dirty="0"/>
              <a:t> para la primera entrega (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6F0A0-086A-48BF-855C-55A4AEB39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Antes de entregar el documento, verifica que en el capítulo </a:t>
            </a:r>
            <a:r>
              <a:rPr lang="es-MX" b="1" dirty="0"/>
              <a:t>“Desarrollo conceptual”</a:t>
            </a:r>
            <a:r>
              <a:rPr lang="es-MX" dirty="0"/>
              <a:t> tienes: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✅ Sección de </a:t>
            </a:r>
            <a:r>
              <a:rPr lang="es-MX" b="1" dirty="0"/>
              <a:t>Empatizar</a:t>
            </a:r>
            <a:r>
              <a:rPr lang="es-MX" dirty="0"/>
              <a:t> con usuarios, contexto y tabla/resumen de hallazgos.</a:t>
            </a:r>
          </a:p>
          <a:p>
            <a:pPr marL="0" indent="0">
              <a:buNone/>
            </a:pPr>
            <a:r>
              <a:rPr lang="es-MX" dirty="0"/>
              <a:t>✅ Sección de </a:t>
            </a:r>
            <a:r>
              <a:rPr lang="es-MX" b="1" dirty="0"/>
              <a:t>Definir</a:t>
            </a:r>
            <a:r>
              <a:rPr lang="es-MX" dirty="0"/>
              <a:t> con un problema/reto claro conectado con lo anterior.</a:t>
            </a:r>
          </a:p>
          <a:p>
            <a:pPr marL="0" indent="0">
              <a:buNone/>
            </a:pPr>
            <a:r>
              <a:rPr lang="es-MX" dirty="0"/>
              <a:t>✅ Sección de </a:t>
            </a:r>
            <a:r>
              <a:rPr lang="es-MX" b="1" dirty="0"/>
              <a:t>Investigación de antecedentes</a:t>
            </a:r>
            <a:r>
              <a:rPr lang="es-MX" dirty="0"/>
              <a:t> con una tabla comparativa de soluciones previas. </a:t>
            </a:r>
            <a:r>
              <a:rPr lang="es-MX" dirty="0">
                <a:highlight>
                  <a:srgbClr val="FFFF00"/>
                </a:highlight>
              </a:rPr>
              <a:t>Referencias</a:t>
            </a:r>
            <a:r>
              <a:rPr lang="es-MX" dirty="0"/>
              <a:t> a artículos científicos o trabajos similares</a:t>
            </a:r>
          </a:p>
          <a:p>
            <a:pPr marL="0" indent="0">
              <a:buNone/>
            </a:pPr>
            <a:r>
              <a:rPr lang="es-MX" dirty="0"/>
              <a:t>✅ Sección de </a:t>
            </a:r>
            <a:r>
              <a:rPr lang="es-MX" b="1" dirty="0"/>
              <a:t>Idear</a:t>
            </a:r>
            <a:r>
              <a:rPr lang="es-MX" dirty="0"/>
              <a:t> con varias ideas de solución y algún criterio de priorización.</a:t>
            </a:r>
          </a:p>
          <a:p>
            <a:pPr marL="0" indent="0">
              <a:buNone/>
            </a:pPr>
            <a:r>
              <a:rPr lang="es-MX" dirty="0"/>
              <a:t>✅ Sección de </a:t>
            </a:r>
            <a:r>
              <a:rPr lang="es-MX" b="1" dirty="0"/>
              <a:t>Prototipar</a:t>
            </a:r>
            <a:r>
              <a:rPr lang="es-MX" dirty="0"/>
              <a:t> con la descripción del prototipo (MVP) y, si es posible, bocetos.</a:t>
            </a:r>
          </a:p>
          <a:p>
            <a:pPr marL="0" indent="0">
              <a:buNone/>
            </a:pPr>
            <a:r>
              <a:rPr lang="es-MX" dirty="0"/>
              <a:t>✅ Sección de </a:t>
            </a:r>
            <a:r>
              <a:rPr lang="es-MX" b="1" dirty="0"/>
              <a:t>Selección de prototipos y criterio</a:t>
            </a:r>
            <a:r>
              <a:rPr lang="es-MX" dirty="0"/>
              <a:t> con una tabla comparativa y justificación escrita.</a:t>
            </a:r>
          </a:p>
          <a:p>
            <a:pPr marL="0" indent="0">
              <a:buNone/>
            </a:pPr>
            <a:r>
              <a:rPr lang="es-MX" dirty="0"/>
              <a:t>✅ </a:t>
            </a:r>
            <a:r>
              <a:rPr lang="es-MX" dirty="0">
                <a:highlight>
                  <a:srgbClr val="FFFF00"/>
                </a:highlight>
              </a:rPr>
              <a:t>Muy poca teoría de “qué es </a:t>
            </a:r>
            <a:r>
              <a:rPr lang="es-MX" dirty="0" err="1">
                <a:highlight>
                  <a:srgbClr val="FFFF00"/>
                </a:highlight>
              </a:rPr>
              <a:t>Design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Thinking</a:t>
            </a:r>
            <a:r>
              <a:rPr lang="es-MX" dirty="0">
                <a:highlight>
                  <a:srgbClr val="FFFF00"/>
                </a:highlight>
              </a:rPr>
              <a:t>” y mucha </a:t>
            </a:r>
            <a:r>
              <a:rPr lang="es-MX" b="1" dirty="0">
                <a:highlight>
                  <a:srgbClr val="FFFF00"/>
                </a:highlight>
              </a:rPr>
              <a:t>evidencia de que lo aplicaste</a:t>
            </a:r>
            <a:r>
              <a:rPr lang="es-MX" dirty="0">
                <a:highlight>
                  <a:srgbClr val="FFFF00"/>
                </a:highlight>
              </a:rPr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12745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CFB68CB-9C87-4BA6-8D7F-9A349C09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Entrega 2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27848D-14A2-4690-AE6B-AD2317ED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Metodología: Scrum y Lean</a:t>
            </a:r>
          </a:p>
        </p:txBody>
      </p:sp>
    </p:spTree>
    <p:extLst>
      <p:ext uri="{BB962C8B-B14F-4D97-AF65-F5344CB8AC3E}">
        <p14:creationId xmlns:p14="http://schemas.microsoft.com/office/powerpoint/2010/main" val="45848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3B6A2-F9AF-4500-BEB0-4C6A1E48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Capítulo 4 — Metodología: Scrum y Lean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B47281-96A4-4C0E-AECD-E5C7F04B1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Este capítulo responde a la pregunta: </a:t>
            </a:r>
            <a:r>
              <a:rPr lang="es-MX" b="1" dirty="0"/>
              <a:t>¿Cómo va a trabajar el equipo para desarrollar su proyecto?</a:t>
            </a:r>
            <a:endParaRPr lang="es-MX" dirty="0"/>
          </a:p>
          <a:p>
            <a:r>
              <a:rPr lang="es-MX" b="1" dirty="0"/>
              <a:t>Introducción breve</a:t>
            </a:r>
          </a:p>
          <a:p>
            <a:pPr lvl="1"/>
            <a:r>
              <a:rPr lang="es-MX" dirty="0"/>
              <a:t>Antes de entrar en detalles, se recomienda un </a:t>
            </a:r>
            <a:r>
              <a:rPr lang="es-MX" b="1" dirty="0"/>
              <a:t>párrafo introductorio</a:t>
            </a:r>
            <a:r>
              <a:rPr lang="es-MX" dirty="0"/>
              <a:t> donde se explique qué es Scrum (un marco ágil de trabajo en equipo para organizar tareas) y qué es Lean (una filosofía para eliminar desperdicios y enfocarse en lo que da valor).</a:t>
            </a:r>
            <a:br>
              <a:rPr lang="es-MX" dirty="0"/>
            </a:br>
            <a:r>
              <a:rPr lang="es-MX" dirty="0"/>
              <a:t>👉 Importante: aquí la teoría es muy corta, máximo 5–7 líneas. </a:t>
            </a:r>
            <a:r>
              <a:rPr lang="es-MX" dirty="0">
                <a:highlight>
                  <a:srgbClr val="FFFF00"/>
                </a:highlight>
              </a:rPr>
              <a:t>Lo central es </a:t>
            </a:r>
            <a:r>
              <a:rPr lang="es-MX" b="1" dirty="0">
                <a:highlight>
                  <a:srgbClr val="FFFF00"/>
                </a:highlight>
              </a:rPr>
              <a:t>cómo van a aplicar estas ideas en su propio proyecto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7367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A4B74-1185-42F1-88BE-67A58F13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4.1 Roles, artefactos y eventos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92723-476E-435C-AE36-C1CAAC398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0"/>
            <a:ext cx="1000305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Roles: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deben decir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quién hace qué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el equipo.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persona que decide qué tareas son más importantes.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 Master: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ayuda a que el equipo trabaje bien y resuelva obstáculos.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 de desarrollo: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quienes construyen, investigan y prueban.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Artefactos: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los documentos o herramientas que usarán. Ejemplo: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 lista de tareas pendientes (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Backlog).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registro de las tareas que harán en el sprint (Sprint Backlog).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resultado parcial que ya funciona al final de cada ciclo (Incremento).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Eventos: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reuniones o dinámicas del equipo.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Planeación (deciden qué hacer en el siguiente ciclo).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Reuniones cortas (para ver avances y problemas).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Revisión (muestran lo que hicieron).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Retrospectiva (piensan cómo mejorar).</a:t>
            </a:r>
          </a:p>
        </p:txBody>
      </p:sp>
    </p:spTree>
    <p:extLst>
      <p:ext uri="{BB962C8B-B14F-4D97-AF65-F5344CB8AC3E}">
        <p14:creationId xmlns:p14="http://schemas.microsoft.com/office/powerpoint/2010/main" val="1230525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21C4E-519C-47AB-8635-2A0B60E8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4.2 Backlog inicial, estimación y cadencia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97EB87-D95B-474D-B179-EB085C9A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Backlog inicial: es una lista de lo que el proyecto necesita. Cada punto debe estar escrito como una pequeña necesidad de usuario. Ejemplo de formato: “Como usuario quiero ___ para ___”.</a:t>
            </a:r>
          </a:p>
          <a:p>
            <a:endParaRPr lang="es-MX" dirty="0"/>
          </a:p>
          <a:p>
            <a:r>
              <a:rPr lang="es-MX" dirty="0"/>
              <a:t>Estimación: deben dar un nivel de dificultad a cada tarea (puede ser con números sencillos, como 1 = fácil, 5 = muy difícil).</a:t>
            </a:r>
          </a:p>
          <a:p>
            <a:endParaRPr lang="es-MX" dirty="0"/>
          </a:p>
          <a:p>
            <a:r>
              <a:rPr lang="es-MX" dirty="0"/>
              <a:t>Cadencia: definir cuánto durará cada ciclo de trabajo (llamado sprint, que suele ser 1 o 2 semanas).</a:t>
            </a:r>
          </a:p>
        </p:txBody>
      </p:sp>
    </p:spTree>
    <p:extLst>
      <p:ext uri="{BB962C8B-B14F-4D97-AF65-F5344CB8AC3E}">
        <p14:creationId xmlns:p14="http://schemas.microsoft.com/office/powerpoint/2010/main" val="2830294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95F3E-2380-4C31-9620-5D069877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4.3 Definiciones de </a:t>
            </a:r>
            <a:r>
              <a:rPr lang="es-MX" dirty="0" err="1"/>
              <a:t>Ready</a:t>
            </a:r>
            <a:r>
              <a:rPr lang="es-MX" dirty="0"/>
              <a:t>/Done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AC542-D045-4F45-9E74-102F5508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Definition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Ready</a:t>
            </a:r>
            <a:r>
              <a:rPr lang="es-MX" dirty="0"/>
              <a:t> (Definición de Listo): cuándo una tarea está lo suficientemente clara para empezar a trabajarla. Ejemplo: si ya se sabe qué se espera, tiene criterios claros y no hay dudas.</a:t>
            </a:r>
          </a:p>
          <a:p>
            <a:endParaRPr lang="es-MX" dirty="0"/>
          </a:p>
          <a:p>
            <a:r>
              <a:rPr lang="es-MX" dirty="0" err="1"/>
              <a:t>Definition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Done (Definición de Hecho): cuándo una tarea está realmente terminada. Ejemplo: cuando funciona, está probada y documentada.</a:t>
            </a:r>
          </a:p>
        </p:txBody>
      </p:sp>
    </p:spTree>
    <p:extLst>
      <p:ext uri="{BB962C8B-B14F-4D97-AF65-F5344CB8AC3E}">
        <p14:creationId xmlns:p14="http://schemas.microsoft.com/office/powerpoint/2010/main" val="4091504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D4063-A93F-4910-8E22-82296AFB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4.4 Principios Lean y métricas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A52849-E951-4FB9-9096-3807ADDA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Principios Lean: ayudan a no perder tiempo ni esfuerzo. Algunos son:</a:t>
            </a:r>
          </a:p>
          <a:p>
            <a:pPr lvl="1"/>
            <a:r>
              <a:rPr lang="es-MX" dirty="0"/>
              <a:t>Identificar qué da valor al usuario.</a:t>
            </a:r>
          </a:p>
          <a:p>
            <a:pPr lvl="1"/>
            <a:r>
              <a:rPr lang="es-MX" dirty="0"/>
              <a:t>Evitar pasos innecesarios.</a:t>
            </a:r>
          </a:p>
          <a:p>
            <a:pPr lvl="1"/>
            <a:r>
              <a:rPr lang="es-MX" dirty="0"/>
              <a:t>Mejorar poco a poco el proceso.</a:t>
            </a:r>
          </a:p>
          <a:p>
            <a:pPr lvl="1"/>
            <a:endParaRPr lang="es-MX" dirty="0"/>
          </a:p>
          <a:p>
            <a:r>
              <a:rPr lang="es-MX" dirty="0"/>
              <a:t>Métricas: son números o medidas que el equipo usará para saber si avanzan bien. Ejemplos sencillos: tiempo que tardan en terminar una tarea, número de errores encontrados, satisfacción de los usuarios que prueban el prototipo.</a:t>
            </a:r>
          </a:p>
        </p:txBody>
      </p:sp>
    </p:spTree>
    <p:extLst>
      <p:ext uri="{BB962C8B-B14F-4D97-AF65-F5344CB8AC3E}">
        <p14:creationId xmlns:p14="http://schemas.microsoft.com/office/powerpoint/2010/main" val="1447295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1AEBA-751B-4278-B3CF-8BC0DDAF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Capítulo 5 — Implementación de la propuesta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377AC-32D1-46D2-89A0-2FEC45A75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Este capítulo responde a la pregunta: ¿Qué construyó realmente el equipo y cómo lo hizo? Aquí se espera ver el desarrollo del producto o prototipo siguiendo el plan del Capítulo 4.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Explicación inicial: Es útil comenzar con un párrafo donde se diga:</a:t>
            </a:r>
          </a:p>
          <a:p>
            <a:pPr lvl="1"/>
            <a:r>
              <a:rPr lang="es-MX" dirty="0"/>
              <a:t>Que en este capítulo se presenta la ejecución del trabajo.</a:t>
            </a:r>
          </a:p>
          <a:p>
            <a:pPr lvl="1"/>
            <a:r>
              <a:rPr lang="es-MX" dirty="0"/>
              <a:t>Que se muestra el prototipo funcional (MVP, </a:t>
            </a:r>
            <a:r>
              <a:rPr lang="es-MX" dirty="0" err="1"/>
              <a:t>Minimum</a:t>
            </a:r>
            <a:r>
              <a:rPr lang="es-MX" dirty="0"/>
              <a:t> Viable </a:t>
            </a:r>
            <a:r>
              <a:rPr lang="es-MX" dirty="0" err="1"/>
              <a:t>Product</a:t>
            </a:r>
            <a:r>
              <a:rPr lang="es-MX" dirty="0"/>
              <a:t> o Producto Mínimo Viable). Un MVP es una versión básica del proyecto que ya puede usarse para probar si la idea funciona, aunque todavía no esté completa o pulida.</a:t>
            </a:r>
          </a:p>
        </p:txBody>
      </p:sp>
    </p:spTree>
    <p:extLst>
      <p:ext uri="{BB962C8B-B14F-4D97-AF65-F5344CB8AC3E}">
        <p14:creationId xmlns:p14="http://schemas.microsoft.com/office/powerpoint/2010/main" val="3313807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6D06B-A3A3-44F2-8195-3781C260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5.1 Planificación y estimación (tiempo/costo)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A69EA9-87BA-4F2C-876F-CCF1B2026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Mostrar cuánto tiempo y esfuerzo realmente les tomó hacer las tareas.</a:t>
            </a:r>
          </a:p>
          <a:p>
            <a:r>
              <a:rPr lang="es-MX" dirty="0"/>
              <a:t>Comparar con lo que habían planeado en el Capítulo 4.</a:t>
            </a:r>
          </a:p>
          <a:p>
            <a:r>
              <a:rPr lang="es-MX" dirty="0"/>
              <a:t>Incluir si hubo costos o recursos (tiempo de cada miembro, software, materiales).</a:t>
            </a:r>
          </a:p>
        </p:txBody>
      </p:sp>
    </p:spTree>
    <p:extLst>
      <p:ext uri="{BB962C8B-B14F-4D97-AF65-F5344CB8AC3E}">
        <p14:creationId xmlns:p14="http://schemas.microsoft.com/office/powerpoint/2010/main" val="42891822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09EE6-32FB-4651-AEFF-A1667BEC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5.2 Implementación (arquitectura, datos, componentes, repositorio)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07331F-83A5-4BE9-B1AA-449194D6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Explicar </a:t>
            </a:r>
            <a:r>
              <a:rPr lang="es-MX" b="1" dirty="0"/>
              <a:t>cómo construyeron la solución</a:t>
            </a:r>
            <a:r>
              <a:rPr lang="es-MX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Describir las partes principales del sistema o aplicación (arquitectura).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Decir qué herramientas o tecnologías usaron.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Explicar de dónde tomaron la información o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Incluir evidencias: capturas de pantalla, diagramas, enlaces al repositorio del proyecto.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51942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EBC8F-2B75-44A9-921C-ACE5FD25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5.3 Despliegue (entorno, seguridad, contingencia)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6D2F7-72E8-4ECB-AFE6-B90D45D49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Explicar </a:t>
            </a:r>
            <a:r>
              <a:rPr lang="es-MX" b="1" dirty="0"/>
              <a:t>dónde y cómo se puede usar el prototipo</a:t>
            </a:r>
            <a:r>
              <a:rPr lang="es-MX" dirty="0"/>
              <a:t> (por ejemplo, en una computadora, en un celular, en la nube).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Aclarar si tomaron medidas básicas de seguridad (ejemplo: proteger datos de los usuarios).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Mencionar qué plan tienen si algo falla (ejemplo: respaldo o versión alternativa).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520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007AA-2B0F-4483-AEC8-53894C3AA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5.4 Mantenimiento (cambios, versiones)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FE0D2C-7154-4B24-BE7F-93A0E4EA6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Explicar cómo se podrían hacer mejoras en el futuro.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Indicar cómo guardarían versiones del proyecto (ejemplo: numeración de versiones).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Mencionar qué partes necesitarán revisiones constantes (ejemplo: actualización de datos, compatibilidad con nuevos dispositivos).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88708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CC38E-B7D4-4C51-A2BC-C2F04318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Diferencia entre Cap. 4 y Cap. 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F4978-241B-4846-BF8A-3A7253EB7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Capítulo 4 (Metodología):</a:t>
            </a:r>
            <a:r>
              <a:rPr lang="es-MX" dirty="0"/>
              <a:t> Describe </a:t>
            </a:r>
            <a:r>
              <a:rPr lang="es-MX" b="1" dirty="0"/>
              <a:t>cómo organizaron el trabajo</a:t>
            </a:r>
            <a:r>
              <a:rPr lang="es-MX" dirty="0"/>
              <a:t> y con qué reglas.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Capítulo 5 (Implementación):</a:t>
            </a:r>
            <a:r>
              <a:rPr lang="es-MX" dirty="0"/>
              <a:t> Explica </a:t>
            </a:r>
            <a:r>
              <a:rPr lang="es-MX" b="1" dirty="0"/>
              <a:t>qué construyeron realmente y cómo lo pusieron en práctica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05264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5C589-B54F-422F-8660-D5FE487B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 .	Validación y diseño experimental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049BD-B9D9-4B3A-B26F-AD88D4A1D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Basándote en la definición de </a:t>
            </a:r>
            <a:r>
              <a:rPr lang="es-MX" dirty="0" err="1"/>
              <a:t>Minimun</a:t>
            </a:r>
            <a:r>
              <a:rPr lang="es-MX" dirty="0"/>
              <a:t> Viable </a:t>
            </a:r>
            <a:r>
              <a:rPr lang="es-MX" dirty="0" err="1"/>
              <a:t>Product</a:t>
            </a:r>
            <a:r>
              <a:rPr lang="es-MX" dirty="0"/>
              <a:t> y a los criterios de medición que has definido en la sección 4 bajo la metodología LEAN Startup, define cual será el criterio final para la validación de tu diseño innovador</a:t>
            </a:r>
          </a:p>
        </p:txBody>
      </p:sp>
    </p:spTree>
    <p:extLst>
      <p:ext uri="{BB962C8B-B14F-4D97-AF65-F5344CB8AC3E}">
        <p14:creationId xmlns:p14="http://schemas.microsoft.com/office/powerpoint/2010/main" val="3066127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63E30-BE75-4454-91A4-A14271F3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7. Conclusiones y trabajo futuro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1DF92D-6EEB-42DD-AD04-C970B8A3E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 este apartado tendrás que exponer las conclusiones y </a:t>
            </a:r>
            <a:r>
              <a:rPr lang="es-MX" dirty="0" err="1"/>
              <a:t>lineas</a:t>
            </a:r>
            <a:r>
              <a:rPr lang="es-MX" dirty="0"/>
              <a:t> futuras que de esta propuesta de innovación puedan derivarse.</a:t>
            </a:r>
          </a:p>
        </p:txBody>
      </p:sp>
    </p:spTree>
    <p:extLst>
      <p:ext uri="{BB962C8B-B14F-4D97-AF65-F5344CB8AC3E}">
        <p14:creationId xmlns:p14="http://schemas.microsoft.com/office/powerpoint/2010/main" val="2791646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FE244-4872-443A-9152-D1FEA60F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Video Presentación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E4CD9-65A8-4A8A-971D-69BD02C70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10 minutos</a:t>
            </a:r>
          </a:p>
          <a:p>
            <a:r>
              <a:rPr lang="es-MX" dirty="0"/>
              <a:t>Inicia motivando el trabajo</a:t>
            </a:r>
          </a:p>
          <a:p>
            <a:r>
              <a:rPr lang="es-MX" dirty="0"/>
              <a:t>Describe los objetivos y como se han alcanzado</a:t>
            </a:r>
          </a:p>
          <a:p>
            <a:r>
              <a:rPr lang="es-MX" dirty="0"/>
              <a:t>Sintetiza las ventajas</a:t>
            </a:r>
          </a:p>
          <a:p>
            <a:r>
              <a:rPr lang="es-MX" dirty="0"/>
              <a:t>No abuses de texto</a:t>
            </a:r>
          </a:p>
          <a:p>
            <a:r>
              <a:rPr lang="es-MX" dirty="0"/>
              <a:t>Usa diagramas y esquemas</a:t>
            </a:r>
          </a:p>
          <a:p>
            <a:r>
              <a:rPr lang="es-MX" dirty="0"/>
              <a:t>Presenta el proyecto en ejecución </a:t>
            </a:r>
          </a:p>
          <a:p>
            <a:r>
              <a:rPr lang="es-MX" dirty="0"/>
              <a:t>Recomiendo OBS Studio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20760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n generada">
            <a:extLst>
              <a:ext uri="{FF2B5EF4-FFF2-40B4-BE49-F238E27FC236}">
                <a16:creationId xmlns:a16="http://schemas.microsoft.com/office/drawing/2014/main" id="{B79F4893-FB78-4B11-A02F-3BB8540CA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416" y="958416"/>
            <a:ext cx="4941168" cy="49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595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3524</TotalTime>
  <Words>3893</Words>
  <Application>Microsoft Office PowerPoint</Application>
  <PresentationFormat>Panorámica</PresentationFormat>
  <Paragraphs>324</Paragraphs>
  <Slides>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5" baseType="lpstr">
      <vt:lpstr>Arial</vt:lpstr>
      <vt:lpstr>Arial Narrow</vt:lpstr>
      <vt:lpstr>Calibri</vt:lpstr>
      <vt:lpstr>Calibri Light</vt:lpstr>
      <vt:lpstr>Tema de Office</vt:lpstr>
      <vt:lpstr>Presentación de PowerPoint</vt:lpstr>
      <vt:lpstr>Seminario de Innovación en Inteligencia Artificial</vt:lpstr>
      <vt:lpstr>Sesiones en directo</vt:lpstr>
      <vt:lpstr>Evaluación</vt:lpstr>
      <vt:lpstr>Incidencias con mayor impacto en el desarrollo de sus propuestas</vt:lpstr>
      <vt:lpstr>Fundamentación y Referentes</vt:lpstr>
      <vt:lpstr>Eje de Datos y Ética</vt:lpstr>
      <vt:lpstr>Evaluación y Rigor Científico</vt:lpstr>
      <vt:lpstr>Entrega 1</vt:lpstr>
      <vt:lpstr>Índice propuesto del documento</vt:lpstr>
      <vt:lpstr>1 Cómo escribir la Introducción</vt:lpstr>
      <vt:lpstr>2 Cómo redactar los Objetivos</vt:lpstr>
      <vt:lpstr>Objetivos Ejemplo breve</vt:lpstr>
      <vt:lpstr>3. Desarrollo conceptual (Design Thinking)</vt:lpstr>
      <vt:lpstr>Design Thinking </vt:lpstr>
      <vt:lpstr>¿Qué es Design Thinking?</vt:lpstr>
      <vt:lpstr>¿Qué es Design Thinking en este trabajo?</vt:lpstr>
      <vt:lpstr>Etapas de Design Thinking (adaptadas a tu proyecto de IA)</vt:lpstr>
      <vt:lpstr>¿En qué parte del documento va Design Thinking?</vt:lpstr>
      <vt:lpstr>Empatizar</vt:lpstr>
      <vt:lpstr>Empatizar : qué evidencias esperar</vt:lpstr>
      <vt:lpstr>Definir (HMW + criterios de éxito)</vt:lpstr>
      <vt:lpstr>Definir : qué evidencias esperar</vt:lpstr>
      <vt:lpstr>Investigación de antecedentes</vt:lpstr>
      <vt:lpstr>Investigación de antecedentes: evidencias</vt:lpstr>
      <vt:lpstr>Idear</vt:lpstr>
      <vt:lpstr>Idear: evidencias</vt:lpstr>
      <vt:lpstr>Prototipar</vt:lpstr>
      <vt:lpstr>Prototipar: evidencias</vt:lpstr>
      <vt:lpstr>Selección de prototipo</vt:lpstr>
      <vt:lpstr>Selección de prototipos: evidencias</vt:lpstr>
      <vt:lpstr>No basta explicar Design Thinking: hay que aplicarlo</vt:lpstr>
      <vt:lpstr>Introducción y cierre del Capítulo 3</vt:lpstr>
      <vt:lpstr>Checklist para la primera entrega (Design Thinking)</vt:lpstr>
      <vt:lpstr>Entrega 2</vt:lpstr>
      <vt:lpstr>Capítulo 4 — Metodología: Scrum y Lean</vt:lpstr>
      <vt:lpstr>4.1 Roles, artefactos y eventos</vt:lpstr>
      <vt:lpstr>4.2 Backlog inicial, estimación y cadencia</vt:lpstr>
      <vt:lpstr>4.3 Definiciones de Ready/Done</vt:lpstr>
      <vt:lpstr>4.4 Principios Lean y métricas</vt:lpstr>
      <vt:lpstr>Capítulo 5 — Implementación de la propuesta</vt:lpstr>
      <vt:lpstr>5.1 Planificación y estimación (tiempo/costo)</vt:lpstr>
      <vt:lpstr>5.2 Implementación (arquitectura, datos, componentes, repositorio)</vt:lpstr>
      <vt:lpstr>5.3 Despliegue (entorno, seguridad, contingencia)</vt:lpstr>
      <vt:lpstr>5.4 Mantenimiento (cambios, versiones)</vt:lpstr>
      <vt:lpstr>Diferencia entre Cap. 4 y Cap. 5</vt:lpstr>
      <vt:lpstr>6 . Validación y diseño experimental</vt:lpstr>
      <vt:lpstr>7. Conclusiones y trabajo futuro</vt:lpstr>
      <vt:lpstr>Video Presentación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Efren</dc:creator>
  <cp:lastModifiedBy>Efrén Juárez Castillo</cp:lastModifiedBy>
  <cp:revision>38</cp:revision>
  <dcterms:created xsi:type="dcterms:W3CDTF">2025-05-27T18:52:14Z</dcterms:created>
  <dcterms:modified xsi:type="dcterms:W3CDTF">2026-01-17T18:46:37Z</dcterms:modified>
</cp:coreProperties>
</file>