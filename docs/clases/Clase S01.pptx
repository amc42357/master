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594" r:id="rId3"/>
    <p:sldId id="595" r:id="rId4"/>
    <p:sldId id="610" r:id="rId5"/>
    <p:sldId id="592" r:id="rId6"/>
    <p:sldId id="614" r:id="rId7"/>
    <p:sldId id="596" r:id="rId8"/>
    <p:sldId id="609" r:id="rId9"/>
    <p:sldId id="611" r:id="rId10"/>
    <p:sldId id="612" r:id="rId11"/>
    <p:sldId id="613" r:id="rId12"/>
    <p:sldId id="597" r:id="rId13"/>
    <p:sldId id="605" r:id="rId14"/>
    <p:sldId id="606" r:id="rId15"/>
    <p:sldId id="598" r:id="rId16"/>
    <p:sldId id="599" r:id="rId17"/>
    <p:sldId id="600" r:id="rId18"/>
    <p:sldId id="602" r:id="rId19"/>
    <p:sldId id="603" r:id="rId20"/>
    <p:sldId id="604" r:id="rId21"/>
    <p:sldId id="601" r:id="rId22"/>
    <p:sldId id="607" r:id="rId23"/>
    <p:sldId id="593" r:id="rId24"/>
    <p:sldId id="615" r:id="rId25"/>
    <p:sldId id="616" r:id="rId26"/>
    <p:sldId id="617" r:id="rId27"/>
    <p:sldId id="608" r:id="rId28"/>
    <p:sldId id="591" r:id="rId29"/>
    <p:sldId id="589" r:id="rId3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0098CD"/>
    <a:srgbClr val="8523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4E2C6A-ADA8-44B7-AE66-79D6D42D3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940D9B-28CD-40C4-85EC-DF4CE264E4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C35656-1EF7-4D23-BEAB-113D7CE39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C96C-C92F-4042-9B73-8B553743D4B2}" type="datetimeFigureOut">
              <a:rPr lang="es-MX" smtClean="0"/>
              <a:t>15/12/2025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6B2C30-6649-4BFF-A2B2-C033408E4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1428E9-CB7D-4905-BC94-002B9DFE1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33589-3F6A-48BB-A791-413E7B0BA79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2152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654292-E87D-4777-962F-1ED9A710E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BC80DD-893A-4D06-9BAB-3299E0132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A8130F-48AA-4AE0-A037-8F94A15A1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C96C-C92F-4042-9B73-8B553743D4B2}" type="datetimeFigureOut">
              <a:rPr lang="es-MX" smtClean="0"/>
              <a:t>15/12/2025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D9D1BC-FC4C-4659-BC34-F3618ADB9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D6179C-8919-434C-AF3A-34A93AE80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33589-3F6A-48BB-A791-413E7B0BA79F}" type="slidenum">
              <a:rPr lang="es-MX" smtClean="0"/>
              <a:t>‹Nº›</a:t>
            </a:fld>
            <a:endParaRPr lang="es-MX"/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A50D6A55-FAB5-4D54-B2DC-62935FE9EA7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402388"/>
            <a:ext cx="12200467" cy="463550"/>
            <a:chOff x="0" y="0"/>
            <a:chExt cx="9151698" cy="464252"/>
          </a:xfrm>
        </p:grpSpPr>
        <p:sp>
          <p:nvSpPr>
            <p:cNvPr id="8" name="Rectangle 2">
              <a:extLst>
                <a:ext uri="{FF2B5EF4-FFF2-40B4-BE49-F238E27FC236}">
                  <a16:creationId xmlns:a16="http://schemas.microsoft.com/office/drawing/2014/main" id="{FFECD505-E7B1-438F-8D72-1734EF98F58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151698" cy="464252"/>
            </a:xfrm>
            <a:prstGeom prst="rect">
              <a:avLst/>
            </a:prstGeom>
            <a:solidFill>
              <a:srgbClr val="0098CD"/>
            </a:solidFill>
            <a:ln w="12700" cap="flat" cmpd="sng">
              <a:noFill/>
              <a:prstDash val="solid"/>
              <a:miter lim="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>
              <a:lvl1pPr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37931725" indent="-37474525"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algn="ctr" eaLnBrk="1"/>
              <a:endParaRPr lang="es-ES" altLang="es-ES">
                <a:solidFill>
                  <a:srgbClr val="FFFFFF"/>
                </a:solidFill>
              </a:endParaRPr>
            </a:p>
          </p:txBody>
        </p:sp>
        <p:sp>
          <p:nvSpPr>
            <p:cNvPr id="9" name="Line 3">
              <a:extLst>
                <a:ext uri="{FF2B5EF4-FFF2-40B4-BE49-F238E27FC236}">
                  <a16:creationId xmlns:a16="http://schemas.microsoft.com/office/drawing/2014/main" id="{165622D8-D8B0-4A10-8B47-63579EA212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53095" y="174889"/>
              <a:ext cx="1588" cy="136732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s-ES"/>
            </a:p>
          </p:txBody>
        </p:sp>
      </p:grpSp>
      <p:pic>
        <p:nvPicPr>
          <p:cNvPr id="10" name="Picture 3">
            <a:extLst>
              <a:ext uri="{FF2B5EF4-FFF2-40B4-BE49-F238E27FC236}">
                <a16:creationId xmlns:a16="http://schemas.microsoft.com/office/drawing/2014/main" id="{BA4167F4-161C-4731-A67A-BB24408BB7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85" y="6402388"/>
            <a:ext cx="2230967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2319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191058-5FCF-4747-B4CF-F4C75F042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09DC7B-D105-4CEA-8656-5910123EC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3425E6-1ECF-4199-8EC8-B123F489E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C96C-C92F-4042-9B73-8B553743D4B2}" type="datetimeFigureOut">
              <a:rPr lang="es-MX" smtClean="0"/>
              <a:t>15/12/2025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61DEE9-964A-4FC9-B56B-B3A3EDC2E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892421-34F1-42F8-8CE9-CC157D54C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33589-3F6A-48BB-A791-413E7B0BA79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5203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659040-1BE4-4898-8CE6-EE337AA04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71D965-4302-4629-95C9-D495E45014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A9B8087-542C-4CD7-BD1B-360B38F886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53D3C9-C777-47B6-8533-AFE431B35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C96C-C92F-4042-9B73-8B553743D4B2}" type="datetimeFigureOut">
              <a:rPr lang="es-MX" smtClean="0"/>
              <a:t>15/12/2025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4BD9320-7B8B-4C6D-9AB9-788D06F41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1DD953-A0F3-4617-8001-D91437138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33589-3F6A-48BB-A791-413E7B0BA79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2297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489750-E925-4904-976F-6DA2701AD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6C0955-B3C2-4D3B-A026-2D7B91672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25A3587-07E8-4815-8039-720F77E406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832758D-13D9-4053-83CD-948E1E2626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9466153-B6D8-42A5-97A7-A6F207ECED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9AE9715-6C35-4B0F-98FE-E8A4247C3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C96C-C92F-4042-9B73-8B553743D4B2}" type="datetimeFigureOut">
              <a:rPr lang="es-MX" smtClean="0"/>
              <a:t>15/12/2025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C4E48EB-4F62-42D6-873B-CED8BF13A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FFAE50A-632B-4613-A447-FE6C86284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33589-3F6A-48BB-A791-413E7B0BA79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32877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D4D990-7261-4E57-8E9C-CFC028E66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13F7C9D-3E4D-4359-A41A-2AB5388DE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C96C-C92F-4042-9B73-8B553743D4B2}" type="datetimeFigureOut">
              <a:rPr lang="es-MX" smtClean="0"/>
              <a:t>15/12/2025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D4376EF-4330-4310-9E50-AD8A35F5A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1B91E5D-3810-423C-AEC7-4295F2154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33589-3F6A-48BB-A791-413E7B0BA79F}" type="slidenum">
              <a:rPr lang="es-MX" smtClean="0"/>
              <a:t>‹Nº›</a:t>
            </a:fld>
            <a:endParaRPr lang="es-MX"/>
          </a:p>
        </p:txBody>
      </p:sp>
      <p:grpSp>
        <p:nvGrpSpPr>
          <p:cNvPr id="6" name="Group 1">
            <a:extLst>
              <a:ext uri="{FF2B5EF4-FFF2-40B4-BE49-F238E27FC236}">
                <a16:creationId xmlns:a16="http://schemas.microsoft.com/office/drawing/2014/main" id="{A3522F91-2C4A-4E39-A605-95EC5C3C107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402388"/>
            <a:ext cx="12200467" cy="463550"/>
            <a:chOff x="0" y="0"/>
            <a:chExt cx="9151698" cy="464252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09300195-D7FA-4616-B1DD-AEA03C792C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151698" cy="464252"/>
            </a:xfrm>
            <a:prstGeom prst="rect">
              <a:avLst/>
            </a:prstGeom>
            <a:solidFill>
              <a:srgbClr val="0098CD"/>
            </a:solidFill>
            <a:ln w="12700" cap="flat" cmpd="sng">
              <a:noFill/>
              <a:prstDash val="solid"/>
              <a:miter lim="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>
              <a:lvl1pPr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37931725" indent="-37474525"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algn="ctr" eaLnBrk="1"/>
              <a:endParaRPr lang="es-ES" altLang="es-ES">
                <a:solidFill>
                  <a:srgbClr val="FFFFFF"/>
                </a:solidFill>
              </a:endParaRPr>
            </a:p>
          </p:txBody>
        </p:sp>
        <p:sp>
          <p:nvSpPr>
            <p:cNvPr id="8" name="Line 3">
              <a:extLst>
                <a:ext uri="{FF2B5EF4-FFF2-40B4-BE49-F238E27FC236}">
                  <a16:creationId xmlns:a16="http://schemas.microsoft.com/office/drawing/2014/main" id="{E64D2E7A-9CB3-49B1-BC9A-F05F34387A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53095" y="174889"/>
              <a:ext cx="1588" cy="136732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s-ES"/>
            </a:p>
          </p:txBody>
        </p:sp>
      </p:grpSp>
      <p:pic>
        <p:nvPicPr>
          <p:cNvPr id="9" name="Picture 3">
            <a:extLst>
              <a:ext uri="{FF2B5EF4-FFF2-40B4-BE49-F238E27FC236}">
                <a16:creationId xmlns:a16="http://schemas.microsoft.com/office/drawing/2014/main" id="{459FB6C2-6858-4030-922C-82B5B8FAFE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85" y="6402388"/>
            <a:ext cx="2230967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3347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07172DF-7D3F-4705-860A-BD8682F21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C96C-C92F-4042-9B73-8B553743D4B2}" type="datetimeFigureOut">
              <a:rPr lang="es-MX" smtClean="0"/>
              <a:t>15/12/2025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D9FBAD9-78BF-41D9-AB08-F245470C4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B8336E-1236-4DE2-A21D-F1620CDA0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33589-3F6A-48BB-A791-413E7B0BA79F}" type="slidenum">
              <a:rPr lang="es-MX" smtClean="0"/>
              <a:t>‹Nº›</a:t>
            </a:fld>
            <a:endParaRPr lang="es-MX"/>
          </a:p>
        </p:txBody>
      </p:sp>
      <p:grpSp>
        <p:nvGrpSpPr>
          <p:cNvPr id="5" name="Group 1">
            <a:extLst>
              <a:ext uri="{FF2B5EF4-FFF2-40B4-BE49-F238E27FC236}">
                <a16:creationId xmlns:a16="http://schemas.microsoft.com/office/drawing/2014/main" id="{5F38305D-E292-4D9A-920D-5017CD0F815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402388"/>
            <a:ext cx="12200467" cy="463550"/>
            <a:chOff x="0" y="0"/>
            <a:chExt cx="9151698" cy="464252"/>
          </a:xfrm>
        </p:grpSpPr>
        <p:sp>
          <p:nvSpPr>
            <p:cNvPr id="6" name="Rectangle 2">
              <a:extLst>
                <a:ext uri="{FF2B5EF4-FFF2-40B4-BE49-F238E27FC236}">
                  <a16:creationId xmlns:a16="http://schemas.microsoft.com/office/drawing/2014/main" id="{DC4A88F4-12D1-4F3C-B310-2D4600882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151698" cy="464252"/>
            </a:xfrm>
            <a:prstGeom prst="rect">
              <a:avLst/>
            </a:prstGeom>
            <a:solidFill>
              <a:srgbClr val="0098CD"/>
            </a:solidFill>
            <a:ln w="12700" cap="flat" cmpd="sng">
              <a:noFill/>
              <a:prstDash val="solid"/>
              <a:miter lim="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>
              <a:lvl1pPr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37931725" indent="-37474525"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algn="ctr" eaLnBrk="1"/>
              <a:endParaRPr lang="es-ES" altLang="es-ES">
                <a:solidFill>
                  <a:srgbClr val="FFFFFF"/>
                </a:solidFill>
              </a:endParaRPr>
            </a:p>
          </p:txBody>
        </p:sp>
        <p:sp>
          <p:nvSpPr>
            <p:cNvPr id="7" name="Line 3">
              <a:extLst>
                <a:ext uri="{FF2B5EF4-FFF2-40B4-BE49-F238E27FC236}">
                  <a16:creationId xmlns:a16="http://schemas.microsoft.com/office/drawing/2014/main" id="{8C75440C-E24E-4805-8662-6493824074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53095" y="174889"/>
              <a:ext cx="1588" cy="136732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s-ES"/>
            </a:p>
          </p:txBody>
        </p:sp>
      </p:grpSp>
      <p:pic>
        <p:nvPicPr>
          <p:cNvPr id="8" name="Picture 3">
            <a:extLst>
              <a:ext uri="{FF2B5EF4-FFF2-40B4-BE49-F238E27FC236}">
                <a16:creationId xmlns:a16="http://schemas.microsoft.com/office/drawing/2014/main" id="{61EF587B-3F99-461B-A355-C8B2A63154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85" y="6402388"/>
            <a:ext cx="2230967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9527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EB06C1-EC70-4228-8899-155CAB4C2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AE16A4-3D09-47B0-A38F-D779F1DEF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2D1EFD1-2090-49EB-AA20-6A5A216EF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51CC4C-483E-4CC6-881A-5744EE75B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C96C-C92F-4042-9B73-8B553743D4B2}" type="datetimeFigureOut">
              <a:rPr lang="es-MX" smtClean="0"/>
              <a:t>15/12/2025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C360972-ED50-47E6-B104-5658B1A28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467B731-51E4-42FC-857F-C566370FA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33589-3F6A-48BB-A791-413E7B0BA79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16209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5CBB66-49E6-475D-8DCB-9DB50DAE1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5EFC58A-73C8-4844-9C17-F914806569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01AE97-69AB-4EAF-B1FD-68A5B34C1B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192528-DD9E-45AF-85A6-ACB4E8FAA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C96C-C92F-4042-9B73-8B553743D4B2}" type="datetimeFigureOut">
              <a:rPr lang="es-MX" smtClean="0"/>
              <a:t>15/12/2025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D449F3-073D-45C9-BBF6-FFC101C54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3E66C4D-C811-472C-AD67-497832BD8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33589-3F6A-48BB-A791-413E7B0BA79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7216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C8FD12-8C6B-4B5B-AB7F-CFCD80BAC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69FAE37-87EC-4556-9F00-48259FE00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5A0DB3-73A4-4D91-BA8F-D69E12367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C96C-C92F-4042-9B73-8B553743D4B2}" type="datetimeFigureOut">
              <a:rPr lang="es-MX" smtClean="0"/>
              <a:t>15/12/2025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128A82-2BED-4993-B799-368CA5155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870621-5F16-44BF-A7EB-C30C982AD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33589-3F6A-48BB-A791-413E7B0BA79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2480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C59ED16-771B-4488-9DCB-BCEDAF786D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FCB6776-A6F3-4CB5-A5AA-E373CDD5B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6C5187-828F-4CB2-82CF-E0541AA78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C96C-C92F-4042-9B73-8B553743D4B2}" type="datetimeFigureOut">
              <a:rPr lang="es-MX" smtClean="0"/>
              <a:t>15/12/2025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D8B5D4-1F9E-40F7-8A57-7C3126E8D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986FC6-99B5-47C4-8ED6-B4DADAC97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33589-3F6A-48BB-A791-413E7B0BA79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0801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1">
            <a:extLst>
              <a:ext uri="{FF2B5EF4-FFF2-40B4-BE49-F238E27FC236}">
                <a16:creationId xmlns:a16="http://schemas.microsoft.com/office/drawing/2014/main" id="{2204107C-48E6-4053-847F-3FBB65701B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2" t="2" r="2078" b="18163"/>
          <a:stretch>
            <a:fillRect/>
          </a:stretch>
        </p:blipFill>
        <p:spPr bwMode="auto">
          <a:xfrm>
            <a:off x="0" y="1"/>
            <a:ext cx="12192000" cy="561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54B6A1E-5454-4371-ADE4-B1DC5991F385}"/>
              </a:ext>
            </a:extLst>
          </p:cNvPr>
          <p:cNvSpPr/>
          <p:nvPr userDrawn="1"/>
        </p:nvSpPr>
        <p:spPr>
          <a:xfrm>
            <a:off x="0" y="5611814"/>
            <a:ext cx="12192000" cy="134937"/>
          </a:xfrm>
          <a:prstGeom prst="rect">
            <a:avLst/>
          </a:prstGeom>
          <a:solidFill>
            <a:srgbClr val="009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_tradnl" dirty="0">
              <a:solidFill>
                <a:srgbClr val="0098CD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45E34D6-64CD-4DFD-A85C-441E85DBC4E4}"/>
              </a:ext>
            </a:extLst>
          </p:cNvPr>
          <p:cNvSpPr/>
          <p:nvPr userDrawn="1"/>
        </p:nvSpPr>
        <p:spPr>
          <a:xfrm>
            <a:off x="0" y="4244975"/>
            <a:ext cx="12192000" cy="1366838"/>
          </a:xfrm>
          <a:prstGeom prst="rect">
            <a:avLst/>
          </a:prstGeom>
          <a:gradFill>
            <a:gsLst>
              <a:gs pos="0">
                <a:srgbClr val="272727"/>
              </a:gs>
              <a:gs pos="100000">
                <a:schemeClr val="tx2">
                  <a:alpha val="0"/>
                </a:schemeClr>
              </a:gs>
            </a:gsLst>
            <a:lin ang="1206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dirty="0"/>
          </a:p>
        </p:txBody>
      </p:sp>
      <p:pic>
        <p:nvPicPr>
          <p:cNvPr id="8" name="Imagen 5">
            <a:extLst>
              <a:ext uri="{FF2B5EF4-FFF2-40B4-BE49-F238E27FC236}">
                <a16:creationId xmlns:a16="http://schemas.microsoft.com/office/drawing/2014/main" id="{7E7C69EB-1A65-400F-BD04-BA7D057D807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9652" y="6134100"/>
            <a:ext cx="3117849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n 5">
            <a:extLst>
              <a:ext uri="{FF2B5EF4-FFF2-40B4-BE49-F238E27FC236}">
                <a16:creationId xmlns:a16="http://schemas.microsoft.com/office/drawing/2014/main" id="{48AE064B-A7E3-494E-9D32-ACACBA1A52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118" y="5959476"/>
            <a:ext cx="1576916" cy="65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Marcador de texto 5"/>
          <p:cNvSpPr>
            <a:spLocks noGrp="1"/>
          </p:cNvSpPr>
          <p:nvPr>
            <p:ph type="body" sz="quarter" idx="11"/>
          </p:nvPr>
        </p:nvSpPr>
        <p:spPr>
          <a:xfrm>
            <a:off x="3623734" y="4991100"/>
            <a:ext cx="7990417" cy="495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0" lang="es-ES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cs typeface="Arial Narrow" panose="020B0606020202030204" pitchFamily="34" charset="0"/>
              </a:defRPr>
            </a:lvl1pPr>
          </a:lstStyle>
          <a:p>
            <a:pPr lvl="0"/>
            <a:r>
              <a:rPr lang="es-ES" noProof="0"/>
              <a:t>Editar el estilo de texto del patrón</a:t>
            </a:r>
          </a:p>
        </p:txBody>
      </p:sp>
      <p:sp>
        <p:nvSpPr>
          <p:cNvPr id="24" name="Marcador de texto 23"/>
          <p:cNvSpPr>
            <a:spLocks noGrp="1"/>
          </p:cNvSpPr>
          <p:nvPr>
            <p:ph type="body" sz="quarter" idx="12"/>
          </p:nvPr>
        </p:nvSpPr>
        <p:spPr>
          <a:xfrm>
            <a:off x="965201" y="4248150"/>
            <a:ext cx="10648951" cy="1016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3500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s-ES"/>
              <a:t>Editar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187304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E33164F-2B36-4A52-9B61-88251767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94853A-7EAA-4E63-933D-EFD0B258B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6BA9D0-C409-4B83-98D0-37012FB9E9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5CC96C-C92F-4042-9B73-8B553743D4B2}" type="datetimeFigureOut">
              <a:rPr lang="es-MX" smtClean="0"/>
              <a:t>15/12/2025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47E0D5-9BF5-4F85-8C97-24C4AFEEB4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0CE006-11A1-4649-BB68-E735BDE80E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33589-3F6A-48BB-A791-413E7B0BA79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19437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332B3E3-0713-4466-9522-0107AF50E6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MX" dirty="0"/>
              <a:t>Dr. Efrén Juárez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B16339A6-E197-484B-BC14-E6102B247A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s-MX" sz="3600" dirty="0">
                <a:solidFill>
                  <a:schemeClr val="bg1"/>
                </a:solidFill>
              </a:rPr>
              <a:t>Seminario de Innovación en Inteligencia Artificial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2C51B8-CBE4-4332-A32B-A2FB0780B21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828463" y="6559550"/>
            <a:ext cx="363537" cy="173038"/>
          </a:xfrm>
          <a:prstGeom prst="rect">
            <a:avLst/>
          </a:prstGeom>
        </p:spPr>
        <p:txBody>
          <a:bodyPr/>
          <a:lstStyle/>
          <a:p>
            <a:fld id="{F0460C81-2402-4F54-8DE3-2D47E350C8B9}" type="slidenum">
              <a:rPr lang="es-ES_tradnl" altLang="es-ES" smtClean="0"/>
              <a:pPr/>
              <a:t>1</a:t>
            </a:fld>
            <a:endParaRPr lang="es-ES_tradnl" alt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0133541-3FC9-4725-8DFE-D232DA7D2CCA}"/>
              </a:ext>
            </a:extLst>
          </p:cNvPr>
          <p:cNvSpPr txBox="1"/>
          <p:nvPr/>
        </p:nvSpPr>
        <p:spPr>
          <a:xfrm>
            <a:off x="0" y="332548"/>
            <a:ext cx="6389511" cy="523220"/>
          </a:xfrm>
          <a:prstGeom prst="rect">
            <a:avLst/>
          </a:prstGeom>
          <a:solidFill>
            <a:srgbClr val="0066FF">
              <a:alpha val="45882"/>
            </a:srgbClr>
          </a:solidFill>
          <a:ln>
            <a:solidFill>
              <a:srgbClr val="0098CD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</a:rPr>
              <a:t>Maestría en Inteligencia Artificial</a:t>
            </a:r>
          </a:p>
        </p:txBody>
      </p:sp>
    </p:spTree>
    <p:extLst>
      <p:ext uri="{BB962C8B-B14F-4D97-AF65-F5344CB8AC3E}">
        <p14:creationId xmlns:p14="http://schemas.microsoft.com/office/powerpoint/2010/main" val="750126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B928432-936B-4535-8EA0-CFC69D68B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144" y="448732"/>
            <a:ext cx="8293100" cy="552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649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61A219-AA18-4682-9586-C727C5C9A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Objetivos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F5C026-EE39-45DE-9D9C-EC5058826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Que los estudiantes logren diseñar una propuesta con un enfoque </a:t>
            </a:r>
            <a:r>
              <a:rPr lang="es-MX" b="1" dirty="0"/>
              <a:t>innovador (</a:t>
            </a:r>
            <a:r>
              <a:rPr lang="es-MX" b="1" dirty="0">
                <a:highlight>
                  <a:srgbClr val="000080"/>
                </a:highlight>
              </a:rPr>
              <a:t>en parejas</a:t>
            </a:r>
            <a:r>
              <a:rPr lang="es-MX" b="1" dirty="0">
                <a:highlight>
                  <a:srgbClr val="00FF00"/>
                </a:highlight>
              </a:rPr>
              <a:t>/equipos</a:t>
            </a:r>
            <a:r>
              <a:rPr lang="es-MX" b="1" dirty="0"/>
              <a:t>)</a:t>
            </a:r>
            <a:r>
              <a:rPr lang="es-MX" dirty="0"/>
              <a:t>.</a:t>
            </a:r>
          </a:p>
          <a:p>
            <a:r>
              <a:rPr lang="es-MX" dirty="0"/>
              <a:t>Que dicha propuesta esté claramente estructurada, justificada con argumentos sólidos y respaldada por una investigación adecuada al nivel de una maestría.</a:t>
            </a:r>
          </a:p>
          <a:p>
            <a:r>
              <a:rPr lang="es-MX" dirty="0"/>
              <a:t>Que sea una propuesta autónoma, es decir, que contenga todos los elementos necesarios para dar inicio a su implementación.</a:t>
            </a:r>
          </a:p>
          <a:p>
            <a:r>
              <a:rPr lang="es-MX" dirty="0">
                <a:highlight>
                  <a:srgbClr val="00FF00"/>
                </a:highlight>
              </a:rPr>
              <a:t>De manera </a:t>
            </a:r>
            <a:r>
              <a:rPr lang="es-MX" b="1" dirty="0">
                <a:highlight>
                  <a:srgbClr val="000080"/>
                </a:highlight>
              </a:rPr>
              <a:t>opcional</a:t>
            </a:r>
            <a:r>
              <a:rPr lang="es-MX" dirty="0">
                <a:highlight>
                  <a:srgbClr val="00FF00"/>
                </a:highlight>
              </a:rPr>
              <a:t>, puede contemplarse el desarrollo de un prototipo funcional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9459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E0DE49-38E8-4AED-993B-972139A9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Duración y entrega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2668E9-925F-44AB-A676-CE5443165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2600" dirty="0"/>
              <a:t>El trabajo durará 16 semanas.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2600" dirty="0"/>
              <a:t>Al final del mismo tendrás que entregar una </a:t>
            </a:r>
            <a:r>
              <a:rPr lang="es-MX" sz="2600" b="1" dirty="0"/>
              <a:t>propuesta de innovación (documento)</a:t>
            </a:r>
            <a:r>
              <a:rPr lang="es-MX" sz="2600" dirty="0"/>
              <a:t>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2600" dirty="0"/>
              <a:t>A la propuesta de innovación le acompañará un </a:t>
            </a:r>
            <a:r>
              <a:rPr lang="es-MX" sz="2600" b="1" dirty="0"/>
              <a:t>video explicativo </a:t>
            </a:r>
            <a:r>
              <a:rPr lang="es-MX" sz="2600" dirty="0"/>
              <a:t>como presentación de la misma.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63747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044205E4-CF23-432E-AAA3-CC775D3B0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Sesiones en directo</a:t>
            </a:r>
          </a:p>
        </p:txBody>
      </p:sp>
      <p:sp>
        <p:nvSpPr>
          <p:cNvPr id="14" name="Marcador de contenido 13">
            <a:extLst>
              <a:ext uri="{FF2B5EF4-FFF2-40B4-BE49-F238E27FC236}">
                <a16:creationId xmlns:a16="http://schemas.microsoft.com/office/drawing/2014/main" id="{7E65B779-9ED6-482F-B606-73A0E6592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485" y="2778531"/>
            <a:ext cx="5725877" cy="2510879"/>
          </a:xfrm>
        </p:spPr>
        <p:txBody>
          <a:bodyPr>
            <a:normAutofit/>
          </a:bodyPr>
          <a:lstStyle/>
          <a:p>
            <a:r>
              <a:rPr lang="es-MX" sz="2000" dirty="0"/>
              <a:t>Semana 01: sesión 1, presentación.</a:t>
            </a:r>
          </a:p>
          <a:p>
            <a:r>
              <a:rPr lang="es-MX" sz="2000" dirty="0"/>
              <a:t>Semana 04: sesión 2, corrección de la propuesta.</a:t>
            </a:r>
          </a:p>
          <a:p>
            <a:r>
              <a:rPr lang="es-MX" sz="2000" dirty="0"/>
              <a:t>Semana 08: sesión 3, corrección de la actividad 2.</a:t>
            </a:r>
          </a:p>
          <a:p>
            <a:r>
              <a:rPr lang="es-MX" sz="2000" dirty="0"/>
              <a:t>Semana 11: sesión 4, corrección de la actividad 3.</a:t>
            </a:r>
          </a:p>
          <a:p>
            <a:r>
              <a:rPr lang="es-MX" sz="2000" dirty="0"/>
              <a:t>Semana 14: sesión 5, preparación del documento final.</a:t>
            </a:r>
          </a:p>
          <a:p>
            <a:endParaRPr lang="es-MX" sz="2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3EAF673-1769-478E-B850-D9EBAA2AE6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38"/>
          <a:stretch/>
        </p:blipFill>
        <p:spPr>
          <a:xfrm>
            <a:off x="6711646" y="1132897"/>
            <a:ext cx="4642154" cy="3947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40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80A401-BF91-4D16-B8F7-9DA327284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Evaluación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136DFF0-086C-4F07-962E-CD6262940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49" y="2552347"/>
            <a:ext cx="11219301" cy="251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932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067D9F-B3BA-4E6C-996D-E2913D669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Criterios de evaluación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7CA25A-E7CB-426D-BD64-A6700ADA9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s-MX" sz="3200" kern="0" dirty="0"/>
              <a:t>70% Documento y video final.</a:t>
            </a:r>
          </a:p>
          <a:p>
            <a:pPr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s-MX" sz="3200" kern="0" dirty="0"/>
              <a:t>15% Entregable 3: SCRUM y LEAN.</a:t>
            </a:r>
          </a:p>
          <a:p>
            <a:pPr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s-MX" sz="3200" kern="0" dirty="0"/>
              <a:t>10% Entregable 2: </a:t>
            </a:r>
            <a:r>
              <a:rPr lang="es-MX" sz="3200" kern="0" dirty="0" err="1"/>
              <a:t>Design</a:t>
            </a:r>
            <a:r>
              <a:rPr lang="es-MX" sz="3200" kern="0" dirty="0"/>
              <a:t> </a:t>
            </a:r>
            <a:r>
              <a:rPr lang="es-MX" sz="3200" kern="0" dirty="0" err="1"/>
              <a:t>Thinking</a:t>
            </a:r>
            <a:r>
              <a:rPr lang="es-MX" sz="3200" kern="0" dirty="0"/>
              <a:t>.</a:t>
            </a:r>
          </a:p>
          <a:p>
            <a:pPr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s-MX" sz="3200" kern="0" dirty="0"/>
              <a:t>5% Asistencia a las sesiones en directo.</a:t>
            </a:r>
          </a:p>
        </p:txBody>
      </p:sp>
    </p:spTree>
    <p:extLst>
      <p:ext uri="{BB962C8B-B14F-4D97-AF65-F5344CB8AC3E}">
        <p14:creationId xmlns:p14="http://schemas.microsoft.com/office/powerpoint/2010/main" val="4152775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7601B-8C5A-4F14-AAF5-ED1553907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Actividades entregables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D0913B-F5E0-41AB-A09A-6F8CD0725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MX" b="1" dirty="0"/>
              <a:t>Propuesta de Innovación: U</a:t>
            </a:r>
            <a:r>
              <a:rPr lang="es-MX" dirty="0"/>
              <a:t>sando la plantilla oficial, se debe describir una propuesta original que aplique IA para resolver un problema concreto, justificando su relevancia, viabilidad y valor.</a:t>
            </a:r>
          </a:p>
          <a:p>
            <a:endParaRPr lang="es-MX" b="1" dirty="0"/>
          </a:p>
          <a:p>
            <a:r>
              <a:rPr lang="es-MX" b="1" dirty="0"/>
              <a:t>Actividad 1: </a:t>
            </a:r>
            <a:r>
              <a:rPr lang="es-MX" b="1" dirty="0" err="1"/>
              <a:t>Design</a:t>
            </a:r>
            <a:r>
              <a:rPr lang="es-MX" b="1" dirty="0"/>
              <a:t> </a:t>
            </a:r>
            <a:r>
              <a:rPr lang="es-MX" b="1" dirty="0" err="1"/>
              <a:t>Thinking</a:t>
            </a:r>
            <a:r>
              <a:rPr lang="es-MX" b="1" dirty="0"/>
              <a:t>: </a:t>
            </a:r>
            <a:r>
              <a:rPr lang="es-MX" dirty="0"/>
              <a:t>Diseñar el proyecto de innovación aplicando las fases del </a:t>
            </a:r>
            <a:r>
              <a:rPr lang="es-MX" dirty="0" err="1"/>
              <a:t>Design</a:t>
            </a:r>
            <a:r>
              <a:rPr lang="es-MX" dirty="0"/>
              <a:t> </a:t>
            </a:r>
            <a:r>
              <a:rPr lang="es-MX" dirty="0" err="1"/>
              <a:t>Thinking</a:t>
            </a:r>
            <a:r>
              <a:rPr lang="es-MX" dirty="0"/>
              <a:t> (empatizar, definir, idear, prototipar, testear), documentando resultados y decisiones para integrarlos en la memoria final.</a:t>
            </a:r>
          </a:p>
          <a:p>
            <a:endParaRPr lang="es-MX" b="1" dirty="0"/>
          </a:p>
          <a:p>
            <a:r>
              <a:rPr lang="es-MX" b="1" dirty="0"/>
              <a:t>Actividad 2: SCRUM y LEAN: </a:t>
            </a:r>
            <a:r>
              <a:rPr lang="es-MX" dirty="0"/>
              <a:t>Especificar el uso de SCRUM (roles, </a:t>
            </a:r>
            <a:r>
              <a:rPr lang="es-MX" dirty="0" err="1"/>
              <a:t>sprints</a:t>
            </a:r>
            <a:r>
              <a:rPr lang="es-MX" dirty="0"/>
              <a:t>, puntos de acción, historias de usuario) y LEAN Startup (etapas, validación, métricas). Este esquema guiará la implementación y evaluación de la innovación.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25107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CA9EFA-ECBA-4EC2-A832-AC1B9B620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Cronograma de actividades (I)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121F62-EDE6-440A-9939-8D5EBD320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MX" dirty="0"/>
              <a:t>Semana 01: </a:t>
            </a:r>
            <a:r>
              <a:rPr lang="es-MX" dirty="0">
                <a:highlight>
                  <a:srgbClr val="FFFF00"/>
                </a:highlight>
              </a:rPr>
              <a:t>(sesión)</a:t>
            </a:r>
            <a:r>
              <a:rPr lang="es-MX" dirty="0"/>
              <a:t> guía del trabajo. Videos de Planificación de la asignatura, cómo escribir el documento final y entregables y criterios de innovación.</a:t>
            </a:r>
          </a:p>
          <a:p>
            <a:r>
              <a:rPr lang="es-MX" dirty="0"/>
              <a:t>Semana 02: principios clave MELDS. Video de principios clave MELDS.</a:t>
            </a:r>
          </a:p>
          <a:p>
            <a:pPr lvl="1"/>
            <a:r>
              <a:rPr lang="es-MX" dirty="0"/>
              <a:t>Inicio del entregable: Propuesta de innovación.</a:t>
            </a:r>
          </a:p>
          <a:p>
            <a:r>
              <a:rPr lang="es-MX" dirty="0"/>
              <a:t>Semana 03: video: Adopción de la inteligencia artificial en el mundo empresarial.</a:t>
            </a:r>
          </a:p>
          <a:p>
            <a:pPr lvl="1"/>
            <a:r>
              <a:rPr lang="es-MX" dirty="0">
                <a:solidFill>
                  <a:srgbClr val="FF0000"/>
                </a:solidFill>
              </a:rPr>
              <a:t>Entregable: propuesta de innovación</a:t>
            </a:r>
            <a:r>
              <a:rPr lang="es-MX" dirty="0"/>
              <a:t>.</a:t>
            </a:r>
          </a:p>
          <a:p>
            <a:r>
              <a:rPr lang="es-MX" dirty="0"/>
              <a:t>Semana 04: videos: Innovación en la inteligencia artificial y </a:t>
            </a:r>
            <a:r>
              <a:rPr lang="es-MX" dirty="0" err="1"/>
              <a:t>big</a:t>
            </a:r>
            <a:r>
              <a:rPr lang="es-MX" dirty="0"/>
              <a:t> data, Diseño de una innovación de producto en inteligencia artificial.</a:t>
            </a:r>
          </a:p>
          <a:p>
            <a:r>
              <a:rPr lang="es-MX" dirty="0"/>
              <a:t>Semana 05: </a:t>
            </a:r>
            <a:r>
              <a:rPr lang="es-MX" dirty="0">
                <a:highlight>
                  <a:srgbClr val="FFFF00"/>
                </a:highlight>
              </a:rPr>
              <a:t>(sesión) </a:t>
            </a:r>
            <a:r>
              <a:rPr lang="es-MX" dirty="0"/>
              <a:t>incorporar las propuestas de mejora de la corrección de la primera actividad. Video </a:t>
            </a:r>
            <a:r>
              <a:rPr lang="es-MX" dirty="0" err="1"/>
              <a:t>Design</a:t>
            </a:r>
            <a:r>
              <a:rPr lang="es-MX" dirty="0"/>
              <a:t> </a:t>
            </a:r>
            <a:r>
              <a:rPr lang="es-MX" dirty="0" err="1"/>
              <a:t>Thinking</a:t>
            </a:r>
            <a:r>
              <a:rPr lang="es-MX" dirty="0"/>
              <a:t>.</a:t>
            </a:r>
          </a:p>
          <a:p>
            <a:pPr lvl="1"/>
            <a:r>
              <a:rPr lang="es-MX" dirty="0"/>
              <a:t>Inicio del entregable: </a:t>
            </a:r>
            <a:r>
              <a:rPr lang="es-MX" dirty="0" err="1"/>
              <a:t>Design</a:t>
            </a:r>
            <a:r>
              <a:rPr lang="es-MX" dirty="0"/>
              <a:t> </a:t>
            </a:r>
            <a:r>
              <a:rPr lang="es-MX" dirty="0" err="1"/>
              <a:t>Thinking</a:t>
            </a:r>
            <a:r>
              <a:rPr lang="es-MX" dirty="0"/>
              <a:t>.</a:t>
            </a:r>
          </a:p>
          <a:p>
            <a:r>
              <a:rPr lang="es-MX" dirty="0"/>
              <a:t>Semana 06: trabajo autónomo.</a:t>
            </a:r>
          </a:p>
          <a:p>
            <a:pPr lvl="1"/>
            <a:r>
              <a:rPr lang="es-MX" dirty="0">
                <a:solidFill>
                  <a:srgbClr val="FF0000"/>
                </a:solidFill>
              </a:rPr>
              <a:t>Entregable: </a:t>
            </a:r>
            <a:r>
              <a:rPr lang="es-MX" dirty="0" err="1">
                <a:solidFill>
                  <a:srgbClr val="FF0000"/>
                </a:solidFill>
              </a:rPr>
              <a:t>Design</a:t>
            </a:r>
            <a:r>
              <a:rPr lang="es-MX" dirty="0">
                <a:solidFill>
                  <a:srgbClr val="FF0000"/>
                </a:solidFill>
              </a:rPr>
              <a:t> </a:t>
            </a:r>
            <a:r>
              <a:rPr lang="es-MX" dirty="0" err="1">
                <a:solidFill>
                  <a:srgbClr val="FF0000"/>
                </a:solidFill>
              </a:rPr>
              <a:t>Thinking</a:t>
            </a:r>
            <a:r>
              <a:rPr lang="es-MX" dirty="0">
                <a:solidFill>
                  <a:srgbClr val="FF0000"/>
                </a:solidFill>
              </a:rPr>
              <a:t>.</a:t>
            </a:r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47525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050D05-0E3E-4E21-9C98-83AE2398A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Cronograma de actividades (II)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AF6FA2-2003-47D0-9512-4CD8261E5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Semana 07: trabajo autónomo.</a:t>
            </a:r>
          </a:p>
          <a:p>
            <a:r>
              <a:rPr lang="es-MX" dirty="0"/>
              <a:t>Semana 08: video: Metodologías Ágiles: SCRUM.</a:t>
            </a:r>
          </a:p>
          <a:p>
            <a:r>
              <a:rPr lang="es-MX" dirty="0"/>
              <a:t>Semana 09: </a:t>
            </a:r>
            <a:r>
              <a:rPr lang="es-MX" dirty="0">
                <a:highlight>
                  <a:srgbClr val="FFFF00"/>
                </a:highlight>
              </a:rPr>
              <a:t>(sesión)</a:t>
            </a:r>
            <a:r>
              <a:rPr lang="es-MX" dirty="0"/>
              <a:t> trabajo autónomo.</a:t>
            </a:r>
          </a:p>
          <a:p>
            <a:r>
              <a:rPr lang="es-MX" dirty="0"/>
              <a:t>Semana 10: video: LEAN Startup.</a:t>
            </a:r>
          </a:p>
          <a:p>
            <a:pPr lvl="1"/>
            <a:r>
              <a:rPr lang="es-MX" dirty="0"/>
              <a:t>Inicio entregable: SCRUM y LEAN.</a:t>
            </a:r>
          </a:p>
          <a:p>
            <a:r>
              <a:rPr lang="es-MX" dirty="0"/>
              <a:t>Semana 11: trabajo autónomo.</a:t>
            </a:r>
          </a:p>
          <a:p>
            <a:r>
              <a:rPr lang="es-MX" dirty="0"/>
              <a:t>Semana 12: trabajo autónomo.</a:t>
            </a:r>
          </a:p>
          <a:p>
            <a:pPr lvl="1"/>
            <a:r>
              <a:rPr lang="es-MX" dirty="0">
                <a:solidFill>
                  <a:srgbClr val="FF0000"/>
                </a:solidFill>
              </a:rPr>
              <a:t>Entregable: SCRUM y LEAN.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92048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AC4ED4-0B25-4490-AAFF-803690DF0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Cronograma de actividades (III)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17B8B5-94AF-475D-9384-64D1DFFDF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Semana 13: revisión de la implementación de SCRUM y LEAN.</a:t>
            </a:r>
          </a:p>
          <a:p>
            <a:r>
              <a:rPr lang="es-MX" dirty="0"/>
              <a:t>Semana 14: </a:t>
            </a:r>
            <a:r>
              <a:rPr lang="es-MX" dirty="0">
                <a:highlight>
                  <a:srgbClr val="FFFF00"/>
                </a:highlight>
              </a:rPr>
              <a:t>(sesión)</a:t>
            </a:r>
            <a:r>
              <a:rPr lang="es-MX" dirty="0"/>
              <a:t> inicio de la redacción del documento final y video de presentación.</a:t>
            </a:r>
          </a:p>
          <a:p>
            <a:r>
              <a:rPr lang="es-MX" dirty="0"/>
              <a:t>Semana 15: trabajo autónomo.</a:t>
            </a:r>
          </a:p>
          <a:p>
            <a:r>
              <a:rPr lang="es-MX" dirty="0"/>
              <a:t>Semana 16: </a:t>
            </a:r>
            <a:r>
              <a:rPr lang="es-MX" dirty="0">
                <a:highlight>
                  <a:srgbClr val="FFFF00"/>
                </a:highlight>
              </a:rPr>
              <a:t>(sesión)</a:t>
            </a:r>
            <a:r>
              <a:rPr lang="es-MX" dirty="0"/>
              <a:t> video: exposición del trabajo.</a:t>
            </a:r>
          </a:p>
          <a:p>
            <a:r>
              <a:rPr lang="es-MX" dirty="0"/>
              <a:t>Semana 17: </a:t>
            </a:r>
            <a:r>
              <a:rPr lang="es-MX" dirty="0">
                <a:solidFill>
                  <a:srgbClr val="FF0000"/>
                </a:solidFill>
              </a:rPr>
              <a:t>entrega final del documento y video.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52844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7D55AC5-B0D2-4BF6-B278-9196201D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es la innovación?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872CDA4-6B06-4C30-9665-B2501CDC7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La </a:t>
            </a:r>
            <a:r>
              <a:rPr lang="es-MX" b="1" dirty="0"/>
              <a:t>innovación</a:t>
            </a:r>
            <a:r>
              <a:rPr lang="es-MX" dirty="0"/>
              <a:t> es el proceso de transformar ideas en soluciones que aporten valor, ya sea en forma de nuevos productos, servicios, procesos o modelos de negocio. No se trata solo de crear algo nuevo, sino de </a:t>
            </a:r>
            <a:r>
              <a:rPr lang="es-MX" b="1" dirty="0"/>
              <a:t>generar valor y mejora concreta</a:t>
            </a:r>
            <a:r>
              <a:rPr lang="es-MX" dirty="0"/>
              <a:t> en un contexto específico.</a:t>
            </a:r>
          </a:p>
        </p:txBody>
      </p:sp>
    </p:spTree>
    <p:extLst>
      <p:ext uri="{BB962C8B-B14F-4D97-AF65-F5344CB8AC3E}">
        <p14:creationId xmlns:p14="http://schemas.microsoft.com/office/powerpoint/2010/main" val="779794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986F20-A1D1-4EA0-8FD1-A7846690C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Innovación tecnológica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B37BEC-AC05-4E9B-B15F-CFBF2B8D3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Dentro de la innovación, la tecnología juega un papel clave. La innovación tecnológica implica el </a:t>
            </a:r>
            <a:r>
              <a:rPr lang="es-MX" b="1" dirty="0"/>
              <a:t>uso de conocimiento científico-técnico para resolver problemas o crear nuevas oportunidades de forma más eficiente</a:t>
            </a:r>
            <a:r>
              <a:rPr lang="es-MX" dirty="0"/>
              <a:t>.</a:t>
            </a:r>
          </a:p>
          <a:p>
            <a:r>
              <a:rPr lang="es-MX" dirty="0"/>
              <a:t>En el contexto de la IA, esto se traduce en </a:t>
            </a:r>
            <a:r>
              <a:rPr lang="es-MX" b="1" dirty="0"/>
              <a:t>aplicar algoritmos, modelos y sistemas de aprendizaje automático para ofrecer soluciones novedosas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3167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C03669-61CF-4D0D-AAF2-3A2E87CBF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Innovación en Inteligencia Artificial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36CEA5-6E8E-4B83-A525-72AA94148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Innovar en IA no es solo aplicar modelos ya existentes, sino crear </a:t>
            </a:r>
            <a:r>
              <a:rPr lang="es-MX" b="1" dirty="0"/>
              <a:t>soluciones originales</a:t>
            </a:r>
            <a:r>
              <a:rPr lang="es-MX" dirty="0"/>
              <a:t>, específicas y con impacto. </a:t>
            </a:r>
          </a:p>
          <a:p>
            <a:pPr marL="0" indent="0">
              <a:buNone/>
            </a:pPr>
            <a:r>
              <a:rPr lang="es-MX" dirty="0"/>
              <a:t>Esto puede implicar:</a:t>
            </a:r>
          </a:p>
          <a:p>
            <a:r>
              <a:rPr lang="es-MX" dirty="0"/>
              <a:t>Desarrollar una metodología nueva de análisis o decisión.</a:t>
            </a:r>
          </a:p>
          <a:p>
            <a:r>
              <a:rPr lang="es-MX" dirty="0"/>
              <a:t>Mejorar significativamente la interacción entre humanos y máquinas.</a:t>
            </a:r>
          </a:p>
          <a:p>
            <a:r>
              <a:rPr lang="es-MX" dirty="0"/>
              <a:t>Aplicar IA en un contexto donde no se había utilizado.</a:t>
            </a:r>
          </a:p>
          <a:p>
            <a:endParaRPr lang="es-MX" dirty="0"/>
          </a:p>
          <a:p>
            <a:pPr marL="0" indent="0">
              <a:buNone/>
            </a:pPr>
            <a:r>
              <a:rPr lang="es-MX" sz="1800" dirty="0"/>
              <a:t>Ejemplo: usar IA para adaptar contenidos educativos en tiempo real según el ritmo del estudiante.</a:t>
            </a:r>
          </a:p>
        </p:txBody>
      </p:sp>
    </p:spTree>
    <p:extLst>
      <p:ext uri="{BB962C8B-B14F-4D97-AF65-F5344CB8AC3E}">
        <p14:creationId xmlns:p14="http://schemas.microsoft.com/office/powerpoint/2010/main" val="3714575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8285C2-78FA-410F-9AEE-60FDDFA09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Innovar en Inteligencia Artificial (IA)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55681D-B247-4866-86BD-6C192D9F7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Implica aplicar estas </a:t>
            </a:r>
            <a:r>
              <a:rPr lang="es-MX" b="1" dirty="0"/>
              <a:t>ideas novedosas</a:t>
            </a:r>
            <a:r>
              <a:rPr lang="es-MX" dirty="0"/>
              <a:t> dentro del campo de la </a:t>
            </a:r>
            <a:r>
              <a:rPr lang="es-MX" b="1" dirty="0"/>
              <a:t>IA</a:t>
            </a:r>
            <a:r>
              <a:rPr lang="es-MX" dirty="0"/>
              <a:t> para mejorar </a:t>
            </a:r>
            <a:r>
              <a:rPr lang="es-MX" b="1" dirty="0"/>
              <a:t>procesos, servicios, productos o experiencias</a:t>
            </a:r>
            <a:r>
              <a:rPr lang="es-MX" dirty="0"/>
              <a:t>. En el contexto de la </a:t>
            </a:r>
            <a:r>
              <a:rPr lang="es-MX" b="1" dirty="0"/>
              <a:t>Maestría en Inteligencia Artificial</a:t>
            </a:r>
            <a:r>
              <a:rPr lang="es-MX" dirty="0"/>
              <a:t>, esto significa desarrollar soluciones tecnológicas específicas —como aplicaciones, metodologías o </a:t>
            </a:r>
            <a:r>
              <a:rPr lang="es-MX" dirty="0" err="1"/>
              <a:t>frameworks</a:t>
            </a:r>
            <a:r>
              <a:rPr lang="es-MX" dirty="0"/>
              <a:t>— que:</a:t>
            </a:r>
          </a:p>
          <a:p>
            <a:r>
              <a:rPr lang="es-MX" dirty="0"/>
              <a:t>Aporten </a:t>
            </a:r>
            <a:r>
              <a:rPr lang="es-MX" b="1" dirty="0"/>
              <a:t>una mejora o evolución </a:t>
            </a:r>
            <a:r>
              <a:rPr lang="es-MX" dirty="0"/>
              <a:t>sobre un estado actual.</a:t>
            </a:r>
          </a:p>
          <a:p>
            <a:r>
              <a:rPr lang="es-MX" dirty="0"/>
              <a:t>Sean </a:t>
            </a:r>
            <a:r>
              <a:rPr lang="es-MX" b="1" dirty="0"/>
              <a:t>novedosas </a:t>
            </a:r>
            <a:r>
              <a:rPr lang="es-MX" dirty="0"/>
              <a:t>en su contexto.</a:t>
            </a:r>
          </a:p>
          <a:p>
            <a:r>
              <a:rPr lang="es-MX" dirty="0"/>
              <a:t>Se enfoquen en </a:t>
            </a:r>
            <a:r>
              <a:rPr lang="es-MX" b="1" dirty="0"/>
              <a:t>aplicaciones prácticas de IA</a:t>
            </a:r>
            <a:r>
              <a:rPr lang="es-MX" dirty="0"/>
              <a:t>, como interfaces con comandos de voz, sistemas de predicción, herramientas de análisis, etc.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6286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CB480A-A0E0-4BBC-8AEF-145CFBD94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 Ideas de innovación en Inteligencia Artificial</a:t>
            </a:r>
            <a:br>
              <a:rPr lang="es-MX" dirty="0"/>
            </a:br>
            <a:r>
              <a:rPr lang="es-MX" sz="2400" dirty="0"/>
              <a:t>(Interacción con el usuario)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BA27B6-6E4D-4893-AC7D-3EFEDED80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 dirty="0"/>
              <a:t>Asistentes virtuales adaptativos</a:t>
            </a:r>
            <a:r>
              <a:rPr lang="es-MX" dirty="0"/>
              <a:t>: que aprendan del comportamiento del usuario para ofrecer respuestas más personalizadas.</a:t>
            </a:r>
          </a:p>
          <a:p>
            <a:r>
              <a:rPr lang="es-MX" b="1" dirty="0"/>
              <a:t>Interfaces</a:t>
            </a:r>
            <a:r>
              <a:rPr lang="es-MX" dirty="0"/>
              <a:t> con voz y lenguaje natural para personas con discapacidad o en ambientes ruidosos.</a:t>
            </a:r>
          </a:p>
          <a:p>
            <a:r>
              <a:rPr lang="es-MX" b="1" dirty="0"/>
              <a:t>Reconocimiento emocional </a:t>
            </a:r>
            <a:r>
              <a:rPr lang="es-MX" dirty="0"/>
              <a:t>en videollamadas para adaptar la comunicación.</a:t>
            </a:r>
          </a:p>
        </p:txBody>
      </p:sp>
    </p:spTree>
    <p:extLst>
      <p:ext uri="{BB962C8B-B14F-4D97-AF65-F5344CB8AC3E}">
        <p14:creationId xmlns:p14="http://schemas.microsoft.com/office/powerpoint/2010/main" val="3675440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CB480A-A0E0-4BBC-8AEF-145CFBD94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 Ideas de innovación en Inteligencia Artificial</a:t>
            </a:r>
            <a:br>
              <a:rPr lang="es-MX" dirty="0"/>
            </a:br>
            <a:r>
              <a:rPr lang="es-MX" sz="2400" dirty="0"/>
              <a:t>(Procesos empresariales)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BA27B6-6E4D-4893-AC7D-3EFEDED80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Automatización inteligente de tareas repetitivas usando (Automatización Robótica de Procesos) RPA + IA.</a:t>
            </a:r>
          </a:p>
          <a:p>
            <a:r>
              <a:rPr lang="es-MX" dirty="0"/>
              <a:t>Sistemas de recomendación para personalizar la oferta de productos o contenidos.</a:t>
            </a:r>
          </a:p>
          <a:p>
            <a:r>
              <a:rPr lang="es-MX" dirty="0"/>
              <a:t>Análisis predictivo para anticipar la demanda o evitar fallos operativos.</a:t>
            </a:r>
          </a:p>
        </p:txBody>
      </p:sp>
    </p:spTree>
    <p:extLst>
      <p:ext uri="{BB962C8B-B14F-4D97-AF65-F5344CB8AC3E}">
        <p14:creationId xmlns:p14="http://schemas.microsoft.com/office/powerpoint/2010/main" val="1405404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CB480A-A0E0-4BBC-8AEF-145CFBD94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 Ideas de innovación en Inteligencia Artificial</a:t>
            </a:r>
            <a:br>
              <a:rPr lang="es-MX" dirty="0"/>
            </a:br>
            <a:r>
              <a:rPr lang="es-MX" sz="2400" dirty="0"/>
              <a:t>(Educación y aprendizaje)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BA27B6-6E4D-4893-AC7D-3EFEDED80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/>
              <a:t>Tutores virtuales personalizados que adapten el contenido al estilo de aprendizaje del estudiante.</a:t>
            </a:r>
          </a:p>
          <a:p>
            <a:r>
              <a:rPr lang="es-MX" dirty="0"/>
              <a:t>Detección temprana de deserción o bajo rendimiento usando modelos de machine </a:t>
            </a:r>
            <a:r>
              <a:rPr lang="es-MX" dirty="0" err="1"/>
              <a:t>learning</a:t>
            </a:r>
            <a:r>
              <a:rPr lang="es-MX" dirty="0"/>
              <a:t>.</a:t>
            </a:r>
          </a:p>
          <a:p>
            <a:r>
              <a:rPr lang="es-MX" dirty="0"/>
              <a:t>Análisis emocional durante exámenes orales virtuales, usando visión por computadora.</a:t>
            </a:r>
          </a:p>
          <a:p>
            <a:r>
              <a:rPr lang="es-MX" dirty="0"/>
              <a:t>Plataformas que adapten el contenido en tiempo real según el desempeño del estudiante.</a:t>
            </a:r>
          </a:p>
          <a:p>
            <a:r>
              <a:rPr lang="es-MX" dirty="0"/>
              <a:t>Videojuegos educativos que se adapten al nivel del alumno mediante aprendizaje automático.</a:t>
            </a:r>
          </a:p>
        </p:txBody>
      </p:sp>
    </p:spTree>
    <p:extLst>
      <p:ext uri="{BB962C8B-B14F-4D97-AF65-F5344CB8AC3E}">
        <p14:creationId xmlns:p14="http://schemas.microsoft.com/office/powerpoint/2010/main" val="709398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CB480A-A0E0-4BBC-8AEF-145CFBD94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 Ideas de innovación en Inteligencia Artificial</a:t>
            </a:r>
            <a:br>
              <a:rPr lang="es-MX" dirty="0"/>
            </a:br>
            <a:r>
              <a:rPr lang="es-MX" sz="2400" dirty="0"/>
              <a:t>(Salud y bienestar)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BA27B6-6E4D-4893-AC7D-3EFEDED80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Modelos predictivos para diagnóstico temprano de enfermedades crónicas.</a:t>
            </a:r>
          </a:p>
          <a:p>
            <a:r>
              <a:rPr lang="es-MX" dirty="0"/>
              <a:t>IA para la salud mental: </a:t>
            </a:r>
            <a:r>
              <a:rPr lang="es-MX" dirty="0" err="1"/>
              <a:t>chatbots</a:t>
            </a:r>
            <a:r>
              <a:rPr lang="es-MX" dirty="0"/>
              <a:t> empáticos o análisis de lenguaje para detectar estados emocionales.</a:t>
            </a:r>
          </a:p>
          <a:p>
            <a:r>
              <a:rPr lang="es-MX" dirty="0"/>
              <a:t>Monitoreo inteligente de pacientes usando visión por computadora y sensores.</a:t>
            </a:r>
          </a:p>
        </p:txBody>
      </p:sp>
    </p:spTree>
    <p:extLst>
      <p:ext uri="{BB962C8B-B14F-4D97-AF65-F5344CB8AC3E}">
        <p14:creationId xmlns:p14="http://schemas.microsoft.com/office/powerpoint/2010/main" val="42939045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CB480A-A0E0-4BBC-8AEF-145CFBD94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 Ideas de innovación en Inteligencia Artificial</a:t>
            </a:r>
            <a:br>
              <a:rPr lang="es-MX" dirty="0"/>
            </a:br>
            <a:r>
              <a:rPr lang="es-MX" sz="2400" dirty="0"/>
              <a:t>(Medio ambiente y sostenibilidad)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BA27B6-6E4D-4893-AC7D-3EFEDED80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Optimización energética en hogares o edificios inteligentes.</a:t>
            </a:r>
          </a:p>
          <a:p>
            <a:r>
              <a:rPr lang="es-MX" dirty="0"/>
              <a:t>Modelos predictivos para desastres naturales o calidad del aire.</a:t>
            </a:r>
          </a:p>
          <a:p>
            <a:r>
              <a:rPr lang="es-MX" dirty="0"/>
              <a:t>Sistemas de riego inteligente con visión por computadora y datos climáticos.</a:t>
            </a:r>
          </a:p>
        </p:txBody>
      </p:sp>
    </p:spTree>
    <p:extLst>
      <p:ext uri="{BB962C8B-B14F-4D97-AF65-F5344CB8AC3E}">
        <p14:creationId xmlns:p14="http://schemas.microsoft.com/office/powerpoint/2010/main" val="741630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A5E810-48AE-4FCC-A890-1BB7BE857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Criterios para evaluar si algo es una innovación en 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D37504-D539-4DDC-B798-F31C3169A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MX" b="1" dirty="0"/>
              <a:t>1. Novedad</a:t>
            </a:r>
          </a:p>
          <a:p>
            <a:pPr lvl="1"/>
            <a:r>
              <a:rPr lang="es-MX" dirty="0"/>
              <a:t>¿</a:t>
            </a:r>
            <a:r>
              <a:rPr lang="es-MX" b="1" dirty="0"/>
              <a:t>Aporta algo nuevo </a:t>
            </a:r>
            <a:r>
              <a:rPr lang="es-MX" dirty="0"/>
              <a:t>o diferente respecto a lo existente?</a:t>
            </a:r>
          </a:p>
          <a:p>
            <a:pPr lvl="1"/>
            <a:r>
              <a:rPr lang="es-MX" dirty="0"/>
              <a:t>¿Existe una </a:t>
            </a:r>
            <a:r>
              <a:rPr lang="es-MX" b="1" dirty="0"/>
              <a:t>mejora sustancial </a:t>
            </a:r>
            <a:r>
              <a:rPr lang="es-MX" dirty="0"/>
              <a:t>o una combinación original de elementos?</a:t>
            </a:r>
          </a:p>
          <a:p>
            <a:r>
              <a:rPr lang="es-MX" b="1" dirty="0"/>
              <a:t>2. Relevancia</a:t>
            </a:r>
          </a:p>
          <a:p>
            <a:pPr lvl="1"/>
            <a:r>
              <a:rPr lang="es-MX" dirty="0"/>
              <a:t>¿</a:t>
            </a:r>
            <a:r>
              <a:rPr lang="es-MX" b="1" dirty="0"/>
              <a:t>Resuelve un problema </a:t>
            </a:r>
            <a:r>
              <a:rPr lang="es-MX" dirty="0"/>
              <a:t>real o responde a una necesidad concreta?</a:t>
            </a:r>
          </a:p>
          <a:p>
            <a:pPr lvl="1"/>
            <a:r>
              <a:rPr lang="es-MX" dirty="0"/>
              <a:t>¿Tiene impacto en el contexto donde se aplica (educación, salud, negocios, etc.)?</a:t>
            </a:r>
          </a:p>
          <a:p>
            <a:r>
              <a:rPr lang="es-MX" b="1" dirty="0"/>
              <a:t>3. Aplicabilidad</a:t>
            </a:r>
          </a:p>
          <a:p>
            <a:pPr lvl="1"/>
            <a:r>
              <a:rPr lang="es-MX" dirty="0"/>
              <a:t>¿Es </a:t>
            </a:r>
            <a:r>
              <a:rPr lang="es-MX" b="1" dirty="0"/>
              <a:t>viable</a:t>
            </a:r>
            <a:r>
              <a:rPr lang="es-MX" dirty="0"/>
              <a:t> técnicamente? ¿Puede implementarse con las tecnologías y recursos disponibles?</a:t>
            </a:r>
          </a:p>
          <a:p>
            <a:pPr lvl="1"/>
            <a:r>
              <a:rPr lang="es-MX" dirty="0"/>
              <a:t>¿Puede llevarse a la práctica más allá de la teoría?</a:t>
            </a:r>
          </a:p>
          <a:p>
            <a:r>
              <a:rPr lang="es-MX" b="1" dirty="0"/>
              <a:t>4. Valor agregado</a:t>
            </a:r>
          </a:p>
          <a:p>
            <a:pPr lvl="1"/>
            <a:r>
              <a:rPr lang="es-MX" dirty="0"/>
              <a:t>¿Aporta beneficios medibles o percibidos (eficiencia, accesibilidad, personalización)?</a:t>
            </a:r>
          </a:p>
          <a:p>
            <a:pPr lvl="1"/>
            <a:r>
              <a:rPr lang="es-MX" dirty="0"/>
              <a:t>¿Mejora significativamente procesos, productos o servicios?</a:t>
            </a:r>
          </a:p>
        </p:txBody>
      </p:sp>
    </p:spTree>
    <p:extLst>
      <p:ext uri="{BB962C8B-B14F-4D97-AF65-F5344CB8AC3E}">
        <p14:creationId xmlns:p14="http://schemas.microsoft.com/office/powerpoint/2010/main" val="397675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A5E810-48AE-4FCC-A890-1BB7BE857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Criterios para evaluar si algo es una innovación en IA </a:t>
            </a:r>
            <a:r>
              <a:rPr lang="es-MX" sz="3200" dirty="0"/>
              <a:t>(continuación)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D37504-D539-4DDC-B798-F31C3169A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b="1" dirty="0"/>
              <a:t>5. Orientación al usuario</a:t>
            </a:r>
          </a:p>
          <a:p>
            <a:pPr lvl="1"/>
            <a:r>
              <a:rPr lang="es-MX" dirty="0"/>
              <a:t>¿Tiene en cuenta las necesidades del usuario final?</a:t>
            </a:r>
          </a:p>
          <a:p>
            <a:pPr lvl="1"/>
            <a:r>
              <a:rPr lang="es-MX" dirty="0"/>
              <a:t>¿Ha sido diseñado con enfoque centrado en la experiencia de usuario?</a:t>
            </a:r>
          </a:p>
          <a:p>
            <a:r>
              <a:rPr lang="es-MX" b="1" dirty="0"/>
              <a:t>6. Originalidad en el uso de la IA</a:t>
            </a:r>
          </a:p>
          <a:p>
            <a:pPr lvl="1"/>
            <a:r>
              <a:rPr lang="es-MX" dirty="0"/>
              <a:t>¿Utiliza herramientas o técnicas de IA de forma no convencional o creativa?</a:t>
            </a:r>
          </a:p>
          <a:p>
            <a:pPr lvl="1"/>
            <a:r>
              <a:rPr lang="es-MX" dirty="0"/>
              <a:t>¿Representa un nuevo enfoque de uso de la Inteligencia Artificial?</a:t>
            </a:r>
          </a:p>
          <a:p>
            <a:r>
              <a:rPr lang="es-MX" b="1" dirty="0"/>
              <a:t>7. Escalabilidad o adaptabilidad</a:t>
            </a:r>
          </a:p>
          <a:p>
            <a:pPr lvl="1"/>
            <a:r>
              <a:rPr lang="es-MX" dirty="0"/>
              <a:t>¿Se puede replicar o adaptar a otros contextos o públicos?</a:t>
            </a:r>
          </a:p>
          <a:p>
            <a:pPr lvl="1"/>
            <a:r>
              <a:rPr lang="es-MX" dirty="0"/>
              <a:t>¿Tiene potencial de crecimiento o extensión?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836634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4D65B0CE-947B-4A42-98E7-0082E3C120C1}"/>
              </a:ext>
            </a:extLst>
          </p:cNvPr>
          <p:cNvSpPr/>
          <p:nvPr/>
        </p:nvSpPr>
        <p:spPr>
          <a:xfrm>
            <a:off x="0" y="6254045"/>
            <a:ext cx="12192000" cy="5217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CBB8818-86FE-41F4-95BC-B86043B0E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Formulario – Propuesta de proyecto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F1C6D14-8A79-44AE-9714-BA9BCE9FA3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45" t="11756" r="2484"/>
          <a:stretch/>
        </p:blipFill>
        <p:spPr>
          <a:xfrm>
            <a:off x="1358458" y="1690688"/>
            <a:ext cx="4702989" cy="5040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D25530E-42EF-43D0-801F-A9FE7641F5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238"/>
          <a:stretch/>
        </p:blipFill>
        <p:spPr>
          <a:xfrm>
            <a:off x="7070653" y="1690688"/>
            <a:ext cx="4283147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6580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AB487E7-3C26-4D24-85B3-21947A2DF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El Marco MELDS (Los 5 requisitos de tu innovación)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2D57B73-00BA-4A58-9C24-26DFC1D31C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87786"/>
            <a:ext cx="10515600" cy="5027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indset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(Mentalidad): Orientación al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impacto real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No es "probar una herramienta", es resolver un problema.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xperimentation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(Experimentación): Rigor científico. Exige definir hipótesis, </a:t>
            </a:r>
            <a:r>
              <a:rPr kumimoji="0" lang="es-MX" altLang="es-MX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baselines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(contra qué comparas) y métricas de éxito antes de empezar.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eadership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(Liderazgo): Trazabilidad. Debes justificar tus decisiones técnicas y definir hitos de control en tu planificación.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ata (Datos): Estrategia. Explicitar origen, limpieza, ética y partición de los datos (evitar fugas de información).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kills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(Habilidades): Viabilidad. Asegurar que el alcance es técnicamente realizable y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reproducible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por terceros.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9070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E71FA8-2666-458C-A7B0-6C8710635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Traducción al Documento (¿Qué escribo y dónde?)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6342999-5617-47D2-A565-324CA65FEB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31005"/>
            <a:ext cx="10394244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"Introducción y Justificación" (</a:t>
            </a:r>
            <a:r>
              <a:rPr kumimoji="0" lang="es-MX" altLang="es-MX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Mindset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es-MX" altLang="es-MX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Leadership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endParaRPr kumimoji="0" lang="es-MX" altLang="es-MX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prometas "estudiar", promete "mejorar". Define quién se beneficia y cuál es el impacto tangible.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Justifica la elección de tus herramientas con evidencia, no por gustos personales.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"Metodología y Diseño Experimental" (</a:t>
            </a:r>
            <a:r>
              <a:rPr kumimoji="0" lang="es-MX" altLang="es-MX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Experimentation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Data):</a:t>
            </a:r>
            <a:endParaRPr kumimoji="0" lang="es-MX" altLang="es-MX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Obligatorio: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Define tu </a:t>
            </a:r>
            <a:r>
              <a:rPr kumimoji="0" lang="es-MX" altLang="es-MX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Baseline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(referente actual). Sin esto, no hay innovación medible.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Obligatorio: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Describe el protocolo de validación (ej. validación cruzada) y la estrategia de datos (tratamiento de sesgos,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anonimización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"Planificación" (</a:t>
            </a:r>
            <a:r>
              <a:rPr kumimoji="0" lang="es-MX" altLang="es-MX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Skills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endParaRPr kumimoji="0" lang="es-MX" altLang="es-MX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Incluye la entrega de código y scripts para garantizar la reproducibilidad.</a:t>
            </a:r>
          </a:p>
        </p:txBody>
      </p:sp>
    </p:spTree>
    <p:extLst>
      <p:ext uri="{BB962C8B-B14F-4D97-AF65-F5344CB8AC3E}">
        <p14:creationId xmlns:p14="http://schemas.microsoft.com/office/powerpoint/2010/main" val="29972294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0127D9-58B5-44D8-A62D-78BB379D2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La Fórmula para el Objetivo General (Plantilla Práctica)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C6C6827-4AAF-4F53-945C-457143E75D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06138"/>
            <a:ext cx="10428111" cy="4190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s-MX" altLang="es-MX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 esta estructura para garantizar que cumples con MELDS en tu </a:t>
            </a:r>
            <a:r>
              <a:rPr kumimoji="0" lang="es-MX" altLang="es-MX" sz="20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Actividad 1</a:t>
            </a:r>
            <a:r>
              <a:rPr kumimoji="0" lang="es-MX" altLang="es-MX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"Diseñar, implementar y evaluar un [Artefacto/Modelo]...</a:t>
            </a: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...que logre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[Criterio Cuantitativo de Éxito]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(ej. reducir error un 10%) respecto a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</a:t>
            </a:r>
            <a:r>
              <a:rPr kumimoji="0" lang="es-MX" altLang="es-MX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Baseline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/Referente]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...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...utilizando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[Estrategia de Datos]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(ej.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público X preprocesado)...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...bajo un protocolo de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[Validación Explícita]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(ej. pruebas en entorno real)...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...con el propósito de generar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[Impacto/Valor Concreto]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."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6709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BDC9B3-AFD8-4C4C-ABD5-1A012BE0B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Actividad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1B897C-F4F6-411D-81DF-835EA6972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En equipos, descargarán el formulario de propuesta de trabajo de innovación y  deberán llenar los siguientes campos:</a:t>
            </a:r>
          </a:p>
          <a:p>
            <a:r>
              <a:rPr lang="es-MX" dirty="0"/>
              <a:t>Título provisional</a:t>
            </a:r>
          </a:p>
          <a:p>
            <a:r>
              <a:rPr lang="es-MX" dirty="0"/>
              <a:t>Líneas de trabajo</a:t>
            </a:r>
          </a:p>
          <a:p>
            <a:r>
              <a:rPr lang="es-MX" dirty="0"/>
              <a:t>Descripción de la aportación justificando su novedad</a:t>
            </a:r>
          </a:p>
          <a:p>
            <a:r>
              <a:rPr lang="es-MX" dirty="0"/>
              <a:t>Cuestionario sobre el trabajo</a:t>
            </a:r>
            <a:br>
              <a:rPr lang="es-MX" dirty="0"/>
            </a:br>
            <a:endParaRPr lang="es-MX" dirty="0"/>
          </a:p>
          <a:p>
            <a:pPr marL="0" indent="0">
              <a:buNone/>
            </a:pPr>
            <a:r>
              <a:rPr lang="es-MX" dirty="0"/>
              <a:t>Al finalizar la actividad cada equipo dará lectura a su propuesta</a:t>
            </a:r>
          </a:p>
        </p:txBody>
      </p:sp>
    </p:spTree>
    <p:extLst>
      <p:ext uri="{BB962C8B-B14F-4D97-AF65-F5344CB8AC3E}">
        <p14:creationId xmlns:p14="http://schemas.microsoft.com/office/powerpoint/2010/main" val="39506490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95A8D7-6648-4551-82CF-D2702E751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Plenaria rápida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6F782E-4A8C-4798-BD3D-3A84F3456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788378" cy="4351338"/>
          </a:xfrm>
        </p:spPr>
        <p:txBody>
          <a:bodyPr/>
          <a:lstStyle/>
          <a:p>
            <a:endParaRPr lang="es-MX" dirty="0"/>
          </a:p>
          <a:p>
            <a:endParaRPr lang="es-MX" dirty="0"/>
          </a:p>
          <a:p>
            <a:r>
              <a:rPr lang="es-MX" dirty="0"/>
              <a:t>Cada equipo compartirá en 2 min su principio prioritario y una frase clave de su propuesta.</a:t>
            </a:r>
          </a:p>
          <a:p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9588BB9-114E-4293-BDE2-CD25B80AE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244" y="1898885"/>
            <a:ext cx="4590344" cy="306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1637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n generada">
            <a:extLst>
              <a:ext uri="{FF2B5EF4-FFF2-40B4-BE49-F238E27FC236}">
                <a16:creationId xmlns:a16="http://schemas.microsoft.com/office/drawing/2014/main" id="{B79F4893-FB78-4B11-A02F-3BB8540CA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416" y="958416"/>
            <a:ext cx="4941168" cy="4941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55958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2437</TotalTime>
  <Words>1825</Words>
  <Application>Microsoft Office PowerPoint</Application>
  <PresentationFormat>Panorámica</PresentationFormat>
  <Paragraphs>156</Paragraphs>
  <Slides>29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6" baseType="lpstr">
      <vt:lpstr>Arial</vt:lpstr>
      <vt:lpstr>Arial Narrow</vt:lpstr>
      <vt:lpstr>Calibri</vt:lpstr>
      <vt:lpstr>Calibri Light</vt:lpstr>
      <vt:lpstr>Symbol</vt:lpstr>
      <vt:lpstr>Wingdings</vt:lpstr>
      <vt:lpstr>Tema de Office</vt:lpstr>
      <vt:lpstr>Presentación de PowerPoint</vt:lpstr>
      <vt:lpstr>Presentación de PowerPoint</vt:lpstr>
      <vt:lpstr>Objetivos</vt:lpstr>
      <vt:lpstr>Duración y entrega</vt:lpstr>
      <vt:lpstr>Sesiones en directo</vt:lpstr>
      <vt:lpstr>Evaluación</vt:lpstr>
      <vt:lpstr>Criterios de evaluación</vt:lpstr>
      <vt:lpstr>Actividades entregables</vt:lpstr>
      <vt:lpstr>Cronograma de actividades (I)</vt:lpstr>
      <vt:lpstr>Cronograma de actividades (II)</vt:lpstr>
      <vt:lpstr>Cronograma de actividades (III)</vt:lpstr>
      <vt:lpstr>¿Qué es la innovación?</vt:lpstr>
      <vt:lpstr>Innovación tecnológica</vt:lpstr>
      <vt:lpstr>Innovación en Inteligencia Artificial</vt:lpstr>
      <vt:lpstr>Innovar en Inteligencia Artificial (IA)</vt:lpstr>
      <vt:lpstr> Ideas de innovación en Inteligencia Artificial (Interacción con el usuario)</vt:lpstr>
      <vt:lpstr> Ideas de innovación en Inteligencia Artificial (Procesos empresariales)</vt:lpstr>
      <vt:lpstr> Ideas de innovación en Inteligencia Artificial (Educación y aprendizaje)</vt:lpstr>
      <vt:lpstr> Ideas de innovación en Inteligencia Artificial (Salud y bienestar)</vt:lpstr>
      <vt:lpstr> Ideas de innovación en Inteligencia Artificial (Medio ambiente y sostenibilidad)</vt:lpstr>
      <vt:lpstr>Criterios para evaluar si algo es una innovación en IA</vt:lpstr>
      <vt:lpstr>Criterios para evaluar si algo es una innovación en IA (continuación)</vt:lpstr>
      <vt:lpstr>Formulario – Propuesta de proyecto</vt:lpstr>
      <vt:lpstr>El Marco MELDS (Los 5 requisitos de tu innovación)</vt:lpstr>
      <vt:lpstr>Traducción al Documento (¿Qué escribo y dónde?)</vt:lpstr>
      <vt:lpstr>La Fórmula para el Objetivo General (Plantilla Práctica)</vt:lpstr>
      <vt:lpstr>Actividad</vt:lpstr>
      <vt:lpstr>Plenaria rápida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Efren</dc:creator>
  <cp:lastModifiedBy>Efrén Juárez Castillo</cp:lastModifiedBy>
  <cp:revision>32</cp:revision>
  <dcterms:created xsi:type="dcterms:W3CDTF">2025-05-27T18:52:14Z</dcterms:created>
  <dcterms:modified xsi:type="dcterms:W3CDTF">2025-12-15T15:48:52Z</dcterms:modified>
</cp:coreProperties>
</file>